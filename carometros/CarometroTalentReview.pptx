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8291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0B3A39-93F6-A5FB-835E-0E594B5292F5}" v="187" dt="2026-04-13T19:34:10.235"/>
    <p1510:client id="{248C2C8A-C7F1-98A1-EB69-6610936C5B0D}" v="122" dt="2026-04-13T19:44:55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>
        <p:scale>
          <a:sx n="66" d="100"/>
          <a:sy n="66" d="100"/>
        </p:scale>
        <p:origin x="4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7AD4C-97C8-428C-9142-EE5D77E39178}" type="datetimeFigureOut">
              <a:t>17/04/2026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6B4F8-4043-4A15-9001-75B41BF9C6A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120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94897-6448-99F3-43DB-B68C309FA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C1DB070-9A3A-5FCD-0920-7F82C9F40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6306C3A-CD34-9150-D3D2-C34466066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61F2F6-0AE3-850C-4259-074F3DFB2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920AAF-45AC-454C-B324-BAB0ABAF87C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277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17.04.2026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84D7CA9-CEC0-1E61-40E3-EADBE2AB399B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26828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Classificação da informação: Confidencial Grupo de Acesso:</a:t>
            </a:r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35CD1-3DA6-9446-FC47-7D23A7FD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4780051-E3B9-89A7-FB50-97822DAB661C}"/>
              </a:ext>
            </a:extLst>
          </p:cNvPr>
          <p:cNvSpPr/>
          <p:nvPr/>
        </p:nvSpPr>
        <p:spPr>
          <a:xfrm>
            <a:off x="-28858" y="6386974"/>
            <a:ext cx="12221211" cy="471026"/>
          </a:xfrm>
          <a:custGeom>
            <a:avLst/>
            <a:gdLst>
              <a:gd name="connsiteX0" fmla="*/ 0 w 24442422"/>
              <a:gd name="connsiteY0" fmla="*/ 0 h 942051"/>
              <a:gd name="connsiteX1" fmla="*/ 24442422 w 24442422"/>
              <a:gd name="connsiteY1" fmla="*/ 0 h 942051"/>
              <a:gd name="connsiteX2" fmla="*/ 24442422 w 24442422"/>
              <a:gd name="connsiteY2" fmla="*/ 942051 h 942051"/>
              <a:gd name="connsiteX3" fmla="*/ 0 w 24442422"/>
              <a:gd name="connsiteY3" fmla="*/ 942051 h 94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42422" h="942051">
                <a:moveTo>
                  <a:pt x="0" y="0"/>
                </a:moveTo>
                <a:lnTo>
                  <a:pt x="24442422" y="0"/>
                </a:lnTo>
                <a:lnTo>
                  <a:pt x="24442422" y="942051"/>
                </a:lnTo>
                <a:lnTo>
                  <a:pt x="0" y="942051"/>
                </a:lnTo>
                <a:close/>
              </a:path>
            </a:pathLst>
          </a:custGeom>
          <a:solidFill>
            <a:srgbClr val="257226"/>
          </a:solidFill>
          <a:ln w="0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750"/>
          </a:p>
        </p:txBody>
      </p:sp>
      <p:grpSp>
        <p:nvGrpSpPr>
          <p:cNvPr id="63" name="Gráfico 2">
            <a:extLst>
              <a:ext uri="{FF2B5EF4-FFF2-40B4-BE49-F238E27FC236}">
                <a16:creationId xmlns:a16="http://schemas.microsoft.com/office/drawing/2014/main" id="{F4CDAD7B-4749-97D4-02BA-E74290F05CDC}"/>
              </a:ext>
            </a:extLst>
          </p:cNvPr>
          <p:cNvGrpSpPr/>
          <p:nvPr/>
        </p:nvGrpSpPr>
        <p:grpSpPr>
          <a:xfrm>
            <a:off x="10503148" y="6159202"/>
            <a:ext cx="1511547" cy="496512"/>
            <a:chOff x="21006293" y="12188349"/>
            <a:chExt cx="3023094" cy="1123078"/>
          </a:xfrm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A33E0D95-5EAD-EF2D-8885-EDE1CF5AD14C}"/>
                </a:ext>
              </a:extLst>
            </p:cNvPr>
            <p:cNvSpPr/>
            <p:nvPr/>
          </p:nvSpPr>
          <p:spPr>
            <a:xfrm>
              <a:off x="21006293" y="12188349"/>
              <a:ext cx="3023094" cy="1123078"/>
            </a:xfrm>
            <a:custGeom>
              <a:avLst/>
              <a:gdLst>
                <a:gd name="connsiteX0" fmla="*/ 0 w 3023094"/>
                <a:gd name="connsiteY0" fmla="*/ 0 h 1123078"/>
                <a:gd name="connsiteX1" fmla="*/ 3023095 w 3023094"/>
                <a:gd name="connsiteY1" fmla="*/ 0 h 1123078"/>
                <a:gd name="connsiteX2" fmla="*/ 3023095 w 3023094"/>
                <a:gd name="connsiteY2" fmla="*/ 1123078 h 1123078"/>
                <a:gd name="connsiteX3" fmla="*/ 0 w 3023094"/>
                <a:gd name="connsiteY3" fmla="*/ 1123078 h 1123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3094" h="1123078">
                  <a:moveTo>
                    <a:pt x="0" y="0"/>
                  </a:moveTo>
                  <a:lnTo>
                    <a:pt x="3023095" y="0"/>
                  </a:lnTo>
                  <a:lnTo>
                    <a:pt x="3023095" y="1123078"/>
                  </a:lnTo>
                  <a:lnTo>
                    <a:pt x="0" y="1123078"/>
                  </a:lnTo>
                  <a:close/>
                </a:path>
              </a:pathLst>
            </a:custGeom>
            <a:solidFill>
              <a:srgbClr val="84BD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750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D9C68764-EEFA-B053-0B89-930BCA0EF1B5}"/>
                </a:ext>
              </a:extLst>
            </p:cNvPr>
            <p:cNvSpPr/>
            <p:nvPr/>
          </p:nvSpPr>
          <p:spPr>
            <a:xfrm>
              <a:off x="21374839" y="12565169"/>
              <a:ext cx="2285494" cy="373128"/>
            </a:xfrm>
            <a:custGeom>
              <a:avLst/>
              <a:gdLst>
                <a:gd name="connsiteX0" fmla="*/ 2136930 w 2285494"/>
                <a:gd name="connsiteY0" fmla="*/ 103498 h 373128"/>
                <a:gd name="connsiteX1" fmla="*/ 2178303 w 2285494"/>
                <a:gd name="connsiteY1" fmla="*/ 66580 h 373128"/>
                <a:gd name="connsiteX2" fmla="*/ 2265126 w 2285494"/>
                <a:gd name="connsiteY2" fmla="*/ 77401 h 373128"/>
                <a:gd name="connsiteX3" fmla="*/ 2265126 w 2285494"/>
                <a:gd name="connsiteY3" fmla="*/ 7638 h 373128"/>
                <a:gd name="connsiteX4" fmla="*/ 2191161 w 2285494"/>
                <a:gd name="connsiteY4" fmla="*/ 0 h 373128"/>
                <a:gd name="connsiteX5" fmla="*/ 2054819 w 2285494"/>
                <a:gd name="connsiteY5" fmla="*/ 108463 h 373128"/>
                <a:gd name="connsiteX6" fmla="*/ 2203892 w 2285494"/>
                <a:gd name="connsiteY6" fmla="*/ 267975 h 373128"/>
                <a:gd name="connsiteX7" fmla="*/ 2161500 w 2285494"/>
                <a:gd name="connsiteY7" fmla="*/ 306294 h 373128"/>
                <a:gd name="connsiteX8" fmla="*/ 2060421 w 2285494"/>
                <a:gd name="connsiteY8" fmla="*/ 285289 h 373128"/>
                <a:gd name="connsiteX9" fmla="*/ 2060421 w 2285494"/>
                <a:gd name="connsiteY9" fmla="*/ 359507 h 373128"/>
                <a:gd name="connsiteX10" fmla="*/ 2151825 w 2285494"/>
                <a:gd name="connsiteY10" fmla="*/ 373001 h 373128"/>
                <a:gd name="connsiteX11" fmla="*/ 2285494 w 2285494"/>
                <a:gd name="connsiteY11" fmla="*/ 260719 h 373128"/>
                <a:gd name="connsiteX12" fmla="*/ 2136676 w 2285494"/>
                <a:gd name="connsiteY12" fmla="*/ 103626 h 373128"/>
                <a:gd name="connsiteX13" fmla="*/ 416031 w 2285494"/>
                <a:gd name="connsiteY13" fmla="*/ 103626 h 373128"/>
                <a:gd name="connsiteX14" fmla="*/ 457405 w 2285494"/>
                <a:gd name="connsiteY14" fmla="*/ 66707 h 373128"/>
                <a:gd name="connsiteX15" fmla="*/ 544226 w 2285494"/>
                <a:gd name="connsiteY15" fmla="*/ 77528 h 373128"/>
                <a:gd name="connsiteX16" fmla="*/ 544226 w 2285494"/>
                <a:gd name="connsiteY16" fmla="*/ 7766 h 373128"/>
                <a:gd name="connsiteX17" fmla="*/ 470390 w 2285494"/>
                <a:gd name="connsiteY17" fmla="*/ 127 h 373128"/>
                <a:gd name="connsiteX18" fmla="*/ 334046 w 2285494"/>
                <a:gd name="connsiteY18" fmla="*/ 108591 h 373128"/>
                <a:gd name="connsiteX19" fmla="*/ 483376 w 2285494"/>
                <a:gd name="connsiteY19" fmla="*/ 268103 h 373128"/>
                <a:gd name="connsiteX20" fmla="*/ 440727 w 2285494"/>
                <a:gd name="connsiteY20" fmla="*/ 306421 h 373128"/>
                <a:gd name="connsiteX21" fmla="*/ 339649 w 2285494"/>
                <a:gd name="connsiteY21" fmla="*/ 285416 h 373128"/>
                <a:gd name="connsiteX22" fmla="*/ 339649 w 2285494"/>
                <a:gd name="connsiteY22" fmla="*/ 359634 h 373128"/>
                <a:gd name="connsiteX23" fmla="*/ 431180 w 2285494"/>
                <a:gd name="connsiteY23" fmla="*/ 373129 h 373128"/>
                <a:gd name="connsiteX24" fmla="*/ 564722 w 2285494"/>
                <a:gd name="connsiteY24" fmla="*/ 260846 h 373128"/>
                <a:gd name="connsiteX25" fmla="*/ 415904 w 2285494"/>
                <a:gd name="connsiteY25" fmla="*/ 103753 h 373128"/>
                <a:gd name="connsiteX26" fmla="*/ 1831399 w 2285494"/>
                <a:gd name="connsiteY26" fmla="*/ 215017 h 373128"/>
                <a:gd name="connsiteX27" fmla="*/ 1863480 w 2285494"/>
                <a:gd name="connsiteY27" fmla="*/ 86567 h 373128"/>
                <a:gd name="connsiteX28" fmla="*/ 1866027 w 2285494"/>
                <a:gd name="connsiteY28" fmla="*/ 86567 h 373128"/>
                <a:gd name="connsiteX29" fmla="*/ 1898744 w 2285494"/>
                <a:gd name="connsiteY29" fmla="*/ 215017 h 373128"/>
                <a:gd name="connsiteX30" fmla="*/ 1831527 w 2285494"/>
                <a:gd name="connsiteY30" fmla="*/ 215017 h 373128"/>
                <a:gd name="connsiteX31" fmla="*/ 1825034 w 2285494"/>
                <a:gd name="connsiteY31" fmla="*/ 5601 h 373128"/>
                <a:gd name="connsiteX32" fmla="*/ 1715935 w 2285494"/>
                <a:gd name="connsiteY32" fmla="*/ 367655 h 373128"/>
                <a:gd name="connsiteX33" fmla="*/ 1788880 w 2285494"/>
                <a:gd name="connsiteY33" fmla="*/ 367655 h 373128"/>
                <a:gd name="connsiteX34" fmla="*/ 1813196 w 2285494"/>
                <a:gd name="connsiteY34" fmla="*/ 281088 h 373128"/>
                <a:gd name="connsiteX35" fmla="*/ 1917204 w 2285494"/>
                <a:gd name="connsiteY35" fmla="*/ 281088 h 373128"/>
                <a:gd name="connsiteX36" fmla="*/ 1941010 w 2285494"/>
                <a:gd name="connsiteY36" fmla="*/ 367655 h 373128"/>
                <a:gd name="connsiteX37" fmla="*/ 2021975 w 2285494"/>
                <a:gd name="connsiteY37" fmla="*/ 367655 h 373128"/>
                <a:gd name="connsiteX38" fmla="*/ 1913511 w 2285494"/>
                <a:gd name="connsiteY38" fmla="*/ 5601 h 373128"/>
                <a:gd name="connsiteX39" fmla="*/ 1825161 w 2285494"/>
                <a:gd name="connsiteY39" fmla="*/ 5601 h 373128"/>
                <a:gd name="connsiteX40" fmla="*/ 1603781 w 2285494"/>
                <a:gd name="connsiteY40" fmla="*/ 243024 h 373128"/>
                <a:gd name="connsiteX41" fmla="*/ 1601361 w 2285494"/>
                <a:gd name="connsiteY41" fmla="*/ 243533 h 373128"/>
                <a:gd name="connsiteX42" fmla="*/ 1475584 w 2285494"/>
                <a:gd name="connsiteY42" fmla="*/ 5601 h 373128"/>
                <a:gd name="connsiteX43" fmla="*/ 1392837 w 2285494"/>
                <a:gd name="connsiteY43" fmla="*/ 5601 h 373128"/>
                <a:gd name="connsiteX44" fmla="*/ 1392837 w 2285494"/>
                <a:gd name="connsiteY44" fmla="*/ 367655 h 373128"/>
                <a:gd name="connsiteX45" fmla="*/ 1464382 w 2285494"/>
                <a:gd name="connsiteY45" fmla="*/ 367655 h 373128"/>
                <a:gd name="connsiteX46" fmla="*/ 1464636 w 2285494"/>
                <a:gd name="connsiteY46" fmla="*/ 117756 h 373128"/>
                <a:gd name="connsiteX47" fmla="*/ 1467054 w 2285494"/>
                <a:gd name="connsiteY47" fmla="*/ 117247 h 373128"/>
                <a:gd name="connsiteX48" fmla="*/ 1598306 w 2285494"/>
                <a:gd name="connsiteY48" fmla="*/ 367655 h 373128"/>
                <a:gd name="connsiteX49" fmla="*/ 1675579 w 2285494"/>
                <a:gd name="connsiteY49" fmla="*/ 367655 h 373128"/>
                <a:gd name="connsiteX50" fmla="*/ 1675579 w 2285494"/>
                <a:gd name="connsiteY50" fmla="*/ 5601 h 373128"/>
                <a:gd name="connsiteX51" fmla="*/ 1604034 w 2285494"/>
                <a:gd name="connsiteY51" fmla="*/ 5601 h 373128"/>
                <a:gd name="connsiteX52" fmla="*/ 1604034 w 2285494"/>
                <a:gd name="connsiteY52" fmla="*/ 243024 h 373128"/>
                <a:gd name="connsiteX53" fmla="*/ 1234852 w 2285494"/>
                <a:gd name="connsiteY53" fmla="*/ 367655 h 373128"/>
                <a:gd name="connsiteX54" fmla="*/ 1314163 w 2285494"/>
                <a:gd name="connsiteY54" fmla="*/ 367655 h 373128"/>
                <a:gd name="connsiteX55" fmla="*/ 1314163 w 2285494"/>
                <a:gd name="connsiteY55" fmla="*/ 5474 h 373128"/>
                <a:gd name="connsiteX56" fmla="*/ 1234852 w 2285494"/>
                <a:gd name="connsiteY56" fmla="*/ 5474 h 373128"/>
                <a:gd name="connsiteX57" fmla="*/ 1234852 w 2285494"/>
                <a:gd name="connsiteY57" fmla="*/ 367655 h 373128"/>
                <a:gd name="connsiteX58" fmla="*/ 1044405 w 2285494"/>
                <a:gd name="connsiteY58" fmla="*/ 5474 h 373128"/>
                <a:gd name="connsiteX59" fmla="*/ 970950 w 2285494"/>
                <a:gd name="connsiteY59" fmla="*/ 276123 h 373128"/>
                <a:gd name="connsiteX60" fmla="*/ 968532 w 2285494"/>
                <a:gd name="connsiteY60" fmla="*/ 276123 h 373128"/>
                <a:gd name="connsiteX61" fmla="*/ 890749 w 2285494"/>
                <a:gd name="connsiteY61" fmla="*/ 5474 h 373128"/>
                <a:gd name="connsiteX62" fmla="*/ 800999 w 2285494"/>
                <a:gd name="connsiteY62" fmla="*/ 5474 h 373128"/>
                <a:gd name="connsiteX63" fmla="*/ 768155 w 2285494"/>
                <a:gd name="connsiteY63" fmla="*/ 367655 h 373128"/>
                <a:gd name="connsiteX64" fmla="*/ 835117 w 2285494"/>
                <a:gd name="connsiteY64" fmla="*/ 367655 h 373128"/>
                <a:gd name="connsiteX65" fmla="*/ 855358 w 2285494"/>
                <a:gd name="connsiteY65" fmla="*/ 116738 h 373128"/>
                <a:gd name="connsiteX66" fmla="*/ 857776 w 2285494"/>
                <a:gd name="connsiteY66" fmla="*/ 116738 h 373128"/>
                <a:gd name="connsiteX67" fmla="*/ 929194 w 2285494"/>
                <a:gd name="connsiteY67" fmla="*/ 367655 h 373128"/>
                <a:gd name="connsiteX68" fmla="*/ 1004304 w 2285494"/>
                <a:gd name="connsiteY68" fmla="*/ 367655 h 373128"/>
                <a:gd name="connsiteX69" fmla="*/ 1073303 w 2285494"/>
                <a:gd name="connsiteY69" fmla="*/ 116738 h 373128"/>
                <a:gd name="connsiteX70" fmla="*/ 1075849 w 2285494"/>
                <a:gd name="connsiteY70" fmla="*/ 116738 h 373128"/>
                <a:gd name="connsiteX71" fmla="*/ 1091381 w 2285494"/>
                <a:gd name="connsiteY71" fmla="*/ 367655 h 373128"/>
                <a:gd name="connsiteX72" fmla="*/ 1167381 w 2285494"/>
                <a:gd name="connsiteY72" fmla="*/ 367655 h 373128"/>
                <a:gd name="connsiteX73" fmla="*/ 1135683 w 2285494"/>
                <a:gd name="connsiteY73" fmla="*/ 5474 h 373128"/>
                <a:gd name="connsiteX74" fmla="*/ 1044405 w 2285494"/>
                <a:gd name="connsiteY74" fmla="*/ 5474 h 373128"/>
                <a:gd name="connsiteX75" fmla="*/ 621246 w 2285494"/>
                <a:gd name="connsiteY75" fmla="*/ 367655 h 373128"/>
                <a:gd name="connsiteX76" fmla="*/ 700811 w 2285494"/>
                <a:gd name="connsiteY76" fmla="*/ 367655 h 373128"/>
                <a:gd name="connsiteX77" fmla="*/ 700811 w 2285494"/>
                <a:gd name="connsiteY77" fmla="*/ 5474 h 373128"/>
                <a:gd name="connsiteX78" fmla="*/ 621246 w 2285494"/>
                <a:gd name="connsiteY78" fmla="*/ 5474 h 373128"/>
                <a:gd name="connsiteX79" fmla="*/ 621246 w 2285494"/>
                <a:gd name="connsiteY79" fmla="*/ 367655 h 373128"/>
                <a:gd name="connsiteX80" fmla="*/ 204451 w 2285494"/>
                <a:gd name="connsiteY80" fmla="*/ 229020 h 373128"/>
                <a:gd name="connsiteX81" fmla="*/ 140544 w 2285494"/>
                <a:gd name="connsiteY81" fmla="*/ 299929 h 373128"/>
                <a:gd name="connsiteX82" fmla="*/ 79312 w 2285494"/>
                <a:gd name="connsiteY82" fmla="*/ 229020 h 373128"/>
                <a:gd name="connsiteX83" fmla="*/ 79312 w 2285494"/>
                <a:gd name="connsiteY83" fmla="*/ 5601 h 373128"/>
                <a:gd name="connsiteX84" fmla="*/ 0 w 2285494"/>
                <a:gd name="connsiteY84" fmla="*/ 5601 h 373128"/>
                <a:gd name="connsiteX85" fmla="*/ 0 w 2285494"/>
                <a:gd name="connsiteY85" fmla="*/ 217945 h 373128"/>
                <a:gd name="connsiteX86" fmla="*/ 139781 w 2285494"/>
                <a:gd name="connsiteY86" fmla="*/ 373129 h 373128"/>
                <a:gd name="connsiteX87" fmla="*/ 279942 w 2285494"/>
                <a:gd name="connsiteY87" fmla="*/ 217945 h 373128"/>
                <a:gd name="connsiteX88" fmla="*/ 279942 w 2285494"/>
                <a:gd name="connsiteY88" fmla="*/ 5601 h 373128"/>
                <a:gd name="connsiteX89" fmla="*/ 204579 w 2285494"/>
                <a:gd name="connsiteY89" fmla="*/ 5601 h 373128"/>
                <a:gd name="connsiteX90" fmla="*/ 204579 w 2285494"/>
                <a:gd name="connsiteY90" fmla="*/ 229020 h 37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2285494" h="373128">
                  <a:moveTo>
                    <a:pt x="2136930" y="103498"/>
                  </a:moveTo>
                  <a:cubicBezTo>
                    <a:pt x="2136930" y="79947"/>
                    <a:pt x="2153225" y="68108"/>
                    <a:pt x="2178303" y="66580"/>
                  </a:cubicBezTo>
                  <a:cubicBezTo>
                    <a:pt x="2210639" y="64671"/>
                    <a:pt x="2265126" y="77401"/>
                    <a:pt x="2265126" y="77401"/>
                  </a:cubicBezTo>
                  <a:lnTo>
                    <a:pt x="2265126" y="7638"/>
                  </a:lnTo>
                  <a:cubicBezTo>
                    <a:pt x="2240683" y="3183"/>
                    <a:pt x="2215987" y="637"/>
                    <a:pt x="2191161" y="0"/>
                  </a:cubicBezTo>
                  <a:cubicBezTo>
                    <a:pt x="2111724" y="0"/>
                    <a:pt x="2054819" y="37555"/>
                    <a:pt x="2054819" y="108463"/>
                  </a:cubicBezTo>
                  <a:cubicBezTo>
                    <a:pt x="2054819" y="219218"/>
                    <a:pt x="2203892" y="207633"/>
                    <a:pt x="2203892" y="267975"/>
                  </a:cubicBezTo>
                  <a:cubicBezTo>
                    <a:pt x="2203892" y="292163"/>
                    <a:pt x="2190781" y="303366"/>
                    <a:pt x="2161500" y="306294"/>
                  </a:cubicBezTo>
                  <a:cubicBezTo>
                    <a:pt x="2120508" y="310113"/>
                    <a:pt x="2060421" y="285289"/>
                    <a:pt x="2060421" y="285289"/>
                  </a:cubicBezTo>
                  <a:lnTo>
                    <a:pt x="2060421" y="359507"/>
                  </a:lnTo>
                  <a:cubicBezTo>
                    <a:pt x="2090082" y="368291"/>
                    <a:pt x="2120891" y="372874"/>
                    <a:pt x="2151825" y="373001"/>
                  </a:cubicBezTo>
                  <a:cubicBezTo>
                    <a:pt x="2229607" y="373001"/>
                    <a:pt x="2285494" y="336592"/>
                    <a:pt x="2285494" y="260719"/>
                  </a:cubicBezTo>
                  <a:cubicBezTo>
                    <a:pt x="2285494" y="155184"/>
                    <a:pt x="2136676" y="159003"/>
                    <a:pt x="2136676" y="103626"/>
                  </a:cubicBezTo>
                  <a:moveTo>
                    <a:pt x="416031" y="103626"/>
                  </a:moveTo>
                  <a:cubicBezTo>
                    <a:pt x="416031" y="80074"/>
                    <a:pt x="432326" y="68235"/>
                    <a:pt x="457405" y="66707"/>
                  </a:cubicBezTo>
                  <a:cubicBezTo>
                    <a:pt x="489741" y="64798"/>
                    <a:pt x="544226" y="77528"/>
                    <a:pt x="544226" y="77528"/>
                  </a:cubicBezTo>
                  <a:lnTo>
                    <a:pt x="544226" y="7766"/>
                  </a:lnTo>
                  <a:cubicBezTo>
                    <a:pt x="519784" y="3310"/>
                    <a:pt x="495087" y="764"/>
                    <a:pt x="470390" y="127"/>
                  </a:cubicBezTo>
                  <a:cubicBezTo>
                    <a:pt x="390825" y="127"/>
                    <a:pt x="334046" y="37682"/>
                    <a:pt x="334046" y="108591"/>
                  </a:cubicBezTo>
                  <a:cubicBezTo>
                    <a:pt x="334046" y="219345"/>
                    <a:pt x="483376" y="207761"/>
                    <a:pt x="483376" y="268103"/>
                  </a:cubicBezTo>
                  <a:cubicBezTo>
                    <a:pt x="483376" y="292291"/>
                    <a:pt x="470263" y="303493"/>
                    <a:pt x="440727" y="306421"/>
                  </a:cubicBezTo>
                  <a:cubicBezTo>
                    <a:pt x="399736" y="310240"/>
                    <a:pt x="339649" y="285416"/>
                    <a:pt x="339649" y="285416"/>
                  </a:cubicBezTo>
                  <a:lnTo>
                    <a:pt x="339649" y="359634"/>
                  </a:lnTo>
                  <a:cubicBezTo>
                    <a:pt x="369310" y="368419"/>
                    <a:pt x="400118" y="373001"/>
                    <a:pt x="431180" y="373129"/>
                  </a:cubicBezTo>
                  <a:cubicBezTo>
                    <a:pt x="508964" y="373129"/>
                    <a:pt x="564722" y="336720"/>
                    <a:pt x="564722" y="260846"/>
                  </a:cubicBezTo>
                  <a:cubicBezTo>
                    <a:pt x="564722" y="155311"/>
                    <a:pt x="415904" y="159130"/>
                    <a:pt x="415904" y="103753"/>
                  </a:cubicBezTo>
                  <a:moveTo>
                    <a:pt x="1831399" y="215017"/>
                  </a:moveTo>
                  <a:lnTo>
                    <a:pt x="1863480" y="86567"/>
                  </a:lnTo>
                  <a:lnTo>
                    <a:pt x="1866027" y="86567"/>
                  </a:lnTo>
                  <a:lnTo>
                    <a:pt x="1898744" y="215017"/>
                  </a:lnTo>
                  <a:lnTo>
                    <a:pt x="1831527" y="215017"/>
                  </a:lnTo>
                  <a:close/>
                  <a:moveTo>
                    <a:pt x="1825034" y="5601"/>
                  </a:moveTo>
                  <a:cubicBezTo>
                    <a:pt x="1783660" y="128577"/>
                    <a:pt x="1715935" y="367655"/>
                    <a:pt x="1715935" y="367655"/>
                  </a:cubicBezTo>
                  <a:lnTo>
                    <a:pt x="1788880" y="367655"/>
                  </a:lnTo>
                  <a:lnTo>
                    <a:pt x="1813196" y="281088"/>
                  </a:lnTo>
                  <a:lnTo>
                    <a:pt x="1917204" y="281088"/>
                  </a:lnTo>
                  <a:lnTo>
                    <a:pt x="1941010" y="367655"/>
                  </a:lnTo>
                  <a:lnTo>
                    <a:pt x="2021975" y="367655"/>
                  </a:lnTo>
                  <a:cubicBezTo>
                    <a:pt x="2021975" y="367655"/>
                    <a:pt x="1952212" y="126413"/>
                    <a:pt x="1913511" y="5601"/>
                  </a:cubicBezTo>
                  <a:lnTo>
                    <a:pt x="1825161" y="5601"/>
                  </a:lnTo>
                  <a:close/>
                  <a:moveTo>
                    <a:pt x="1603781" y="243024"/>
                  </a:moveTo>
                  <a:lnTo>
                    <a:pt x="1601361" y="243533"/>
                  </a:lnTo>
                  <a:cubicBezTo>
                    <a:pt x="1597161" y="229020"/>
                    <a:pt x="1475584" y="5601"/>
                    <a:pt x="1475584" y="5601"/>
                  </a:cubicBezTo>
                  <a:lnTo>
                    <a:pt x="1392837" y="5601"/>
                  </a:lnTo>
                  <a:lnTo>
                    <a:pt x="1392837" y="367655"/>
                  </a:lnTo>
                  <a:lnTo>
                    <a:pt x="1464382" y="367655"/>
                  </a:lnTo>
                  <a:lnTo>
                    <a:pt x="1464636" y="117756"/>
                  </a:lnTo>
                  <a:lnTo>
                    <a:pt x="1467054" y="117247"/>
                  </a:lnTo>
                  <a:lnTo>
                    <a:pt x="1598306" y="367655"/>
                  </a:lnTo>
                  <a:lnTo>
                    <a:pt x="1675579" y="367655"/>
                  </a:lnTo>
                  <a:lnTo>
                    <a:pt x="1675579" y="5601"/>
                  </a:lnTo>
                  <a:lnTo>
                    <a:pt x="1604034" y="5601"/>
                  </a:lnTo>
                  <a:lnTo>
                    <a:pt x="1604034" y="243024"/>
                  </a:lnTo>
                  <a:close/>
                  <a:moveTo>
                    <a:pt x="1234852" y="367655"/>
                  </a:moveTo>
                  <a:lnTo>
                    <a:pt x="1314163" y="367655"/>
                  </a:lnTo>
                  <a:lnTo>
                    <a:pt x="1314163" y="5474"/>
                  </a:lnTo>
                  <a:lnTo>
                    <a:pt x="1234852" y="5474"/>
                  </a:lnTo>
                  <a:lnTo>
                    <a:pt x="1234852" y="367655"/>
                  </a:lnTo>
                  <a:close/>
                  <a:moveTo>
                    <a:pt x="1044405" y="5474"/>
                  </a:moveTo>
                  <a:lnTo>
                    <a:pt x="970950" y="276123"/>
                  </a:lnTo>
                  <a:lnTo>
                    <a:pt x="968532" y="276123"/>
                  </a:lnTo>
                  <a:lnTo>
                    <a:pt x="890749" y="5474"/>
                  </a:lnTo>
                  <a:lnTo>
                    <a:pt x="800999" y="5474"/>
                  </a:lnTo>
                  <a:cubicBezTo>
                    <a:pt x="786996" y="126922"/>
                    <a:pt x="768155" y="367655"/>
                    <a:pt x="768155" y="367655"/>
                  </a:cubicBezTo>
                  <a:lnTo>
                    <a:pt x="835117" y="367655"/>
                  </a:lnTo>
                  <a:lnTo>
                    <a:pt x="855358" y="116738"/>
                  </a:lnTo>
                  <a:lnTo>
                    <a:pt x="857776" y="116738"/>
                  </a:lnTo>
                  <a:lnTo>
                    <a:pt x="929194" y="367655"/>
                  </a:lnTo>
                  <a:lnTo>
                    <a:pt x="1004304" y="367655"/>
                  </a:lnTo>
                  <a:lnTo>
                    <a:pt x="1073303" y="116738"/>
                  </a:lnTo>
                  <a:lnTo>
                    <a:pt x="1075849" y="116738"/>
                  </a:lnTo>
                  <a:lnTo>
                    <a:pt x="1091381" y="367655"/>
                  </a:lnTo>
                  <a:lnTo>
                    <a:pt x="1167381" y="367655"/>
                  </a:lnTo>
                  <a:cubicBezTo>
                    <a:pt x="1167381" y="367655"/>
                    <a:pt x="1149176" y="126413"/>
                    <a:pt x="1135683" y="5474"/>
                  </a:cubicBezTo>
                  <a:lnTo>
                    <a:pt x="1044405" y="5474"/>
                  </a:lnTo>
                  <a:close/>
                  <a:moveTo>
                    <a:pt x="621246" y="367655"/>
                  </a:moveTo>
                  <a:lnTo>
                    <a:pt x="700811" y="367655"/>
                  </a:lnTo>
                  <a:lnTo>
                    <a:pt x="700811" y="5474"/>
                  </a:lnTo>
                  <a:lnTo>
                    <a:pt x="621246" y="5474"/>
                  </a:lnTo>
                  <a:lnTo>
                    <a:pt x="621246" y="367655"/>
                  </a:lnTo>
                  <a:close/>
                  <a:moveTo>
                    <a:pt x="204451" y="229020"/>
                  </a:moveTo>
                  <a:cubicBezTo>
                    <a:pt x="204451" y="282743"/>
                    <a:pt x="185738" y="299929"/>
                    <a:pt x="140544" y="299929"/>
                  </a:cubicBezTo>
                  <a:cubicBezTo>
                    <a:pt x="95351" y="299929"/>
                    <a:pt x="79312" y="284525"/>
                    <a:pt x="79312" y="229020"/>
                  </a:cubicBezTo>
                  <a:lnTo>
                    <a:pt x="79312" y="5601"/>
                  </a:lnTo>
                  <a:lnTo>
                    <a:pt x="0" y="5601"/>
                  </a:lnTo>
                  <a:lnTo>
                    <a:pt x="0" y="217945"/>
                  </a:lnTo>
                  <a:cubicBezTo>
                    <a:pt x="0" y="335065"/>
                    <a:pt x="53214" y="373129"/>
                    <a:pt x="139781" y="373129"/>
                  </a:cubicBezTo>
                  <a:cubicBezTo>
                    <a:pt x="237805" y="373129"/>
                    <a:pt x="279942" y="317242"/>
                    <a:pt x="279942" y="217945"/>
                  </a:cubicBezTo>
                  <a:lnTo>
                    <a:pt x="279942" y="5601"/>
                  </a:lnTo>
                  <a:lnTo>
                    <a:pt x="204579" y="5601"/>
                  </a:lnTo>
                  <a:lnTo>
                    <a:pt x="204579" y="22902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750"/>
            </a:p>
          </p:txBody>
        </p:sp>
      </p:grp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9A896A48-FAFD-B60E-889D-91E36E19844A}"/>
              </a:ext>
            </a:extLst>
          </p:cNvPr>
          <p:cNvSpPr txBox="1"/>
          <p:nvPr/>
        </p:nvSpPr>
        <p:spPr>
          <a:xfrm>
            <a:off x="448929" y="684962"/>
            <a:ext cx="3288000" cy="266740"/>
          </a:xfrm>
          <a:prstGeom prst="rect">
            <a:avLst/>
          </a:prstGeom>
          <a:solidFill>
            <a:srgbClr val="25722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71"/>
            <a:r>
              <a:rPr lang="pt-BR" sz="1400">
                <a:solidFill>
                  <a:schemeClr val="bg1"/>
                </a:solidFill>
              </a:rPr>
              <a:t>CEO3</a:t>
            </a:r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8F2B7F1-F0FA-26C0-A27B-358837146F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6" b="11526"/>
          <a:stretch/>
        </p:blipFill>
        <p:spPr>
          <a:xfrm>
            <a:off x="413121" y="1296476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0B6B17CE-CB0C-C34C-2091-1B9AC736EBF7}"/>
              </a:ext>
            </a:extLst>
          </p:cNvPr>
          <p:cNvGrpSpPr/>
          <p:nvPr/>
        </p:nvGrpSpPr>
        <p:grpSpPr>
          <a:xfrm>
            <a:off x="413121" y="1025484"/>
            <a:ext cx="2925311" cy="246221"/>
            <a:chOff x="67008" y="1040837"/>
            <a:chExt cx="2925310" cy="369331"/>
          </a:xfrm>
        </p:grpSpPr>
        <p:cxnSp>
          <p:nvCxnSpPr>
            <p:cNvPr id="102" name="Conector reto 101">
              <a:extLst>
                <a:ext uri="{FF2B5EF4-FFF2-40B4-BE49-F238E27FC236}">
                  <a16:creationId xmlns:a16="http://schemas.microsoft.com/office/drawing/2014/main" id="{2DD14065-31D4-C103-262A-4335FA8633A0}"/>
                </a:ext>
              </a:extLst>
            </p:cNvPr>
            <p:cNvCxnSpPr/>
            <p:nvPr/>
          </p:nvCxnSpPr>
          <p:spPr>
            <a:xfrm>
              <a:off x="117233" y="1292295"/>
              <a:ext cx="287508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04" name="CaixaDeTexto 103">
              <a:extLst>
                <a:ext uri="{FF2B5EF4-FFF2-40B4-BE49-F238E27FC236}">
                  <a16:creationId xmlns:a16="http://schemas.microsoft.com/office/drawing/2014/main" id="{617CDD94-4D33-3F41-C057-A048C1472C19}"/>
                </a:ext>
              </a:extLst>
            </p:cNvPr>
            <p:cNvSpPr txBox="1"/>
            <p:nvPr/>
          </p:nvSpPr>
          <p:spPr>
            <a:xfrm>
              <a:off x="67008" y="1040837"/>
              <a:ext cx="2374426" cy="36933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pt-BR" sz="1000" dirty="0"/>
                <a:t>CEO4</a:t>
              </a:r>
              <a:endParaRPr lang="pt-BR" dirty="0"/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493837A-AD3E-D666-FD68-7FF996261A7D}"/>
              </a:ext>
            </a:extLst>
          </p:cNvPr>
          <p:cNvSpPr txBox="1"/>
          <p:nvPr/>
        </p:nvSpPr>
        <p:spPr>
          <a:xfrm>
            <a:off x="975217" y="1296476"/>
            <a:ext cx="3110367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000" dirty="0">
                <a:latin typeface="Calibri"/>
                <a:ea typeface="Calibri"/>
                <a:cs typeface="Calibri"/>
              </a:rPr>
              <a:t>NOME COMPLETO | IDADE  - NOTA/POTENCIAL</a:t>
            </a:r>
          </a:p>
          <a:p>
            <a:pPr algn="l">
              <a:lnSpc>
                <a:spcPct val="100000"/>
              </a:lnSpc>
            </a:pPr>
            <a:r>
              <a:rPr lang="en-US" sz="1000">
                <a:latin typeface="Calibri"/>
                <a:ea typeface="Calibri"/>
                <a:cs typeface="Calibri"/>
              </a:rPr>
              <a:t>CARGO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Sucessor Imediato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  <a:endParaRPr lang="pt-BR"/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0000FF"/>
                </a:highlight>
                <a:latin typeface="Aptos Narrow"/>
                <a:ea typeface="Calibri"/>
                <a:cs typeface="Calibri"/>
              </a:rPr>
              <a:t>Em desenvolvimento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0790E7D-4DAC-C4DC-4C1C-901F9D508F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01" b="8501"/>
          <a:stretch/>
        </p:blipFill>
        <p:spPr>
          <a:xfrm>
            <a:off x="413121" y="3151628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577B933-5A81-69AF-F583-10FAAB19AED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6" b="11526"/>
          <a:stretch/>
        </p:blipFill>
        <p:spPr>
          <a:xfrm>
            <a:off x="413121" y="4146231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AA7D412-BD5E-47F4-8CB0-5532682A47E7}"/>
              </a:ext>
            </a:extLst>
          </p:cNvPr>
          <p:cNvSpPr txBox="1"/>
          <p:nvPr/>
        </p:nvSpPr>
        <p:spPr>
          <a:xfrm>
            <a:off x="975217" y="3151628"/>
            <a:ext cx="3109433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000" dirty="0">
                <a:latin typeface="Calibri"/>
                <a:ea typeface="Calibri"/>
                <a:cs typeface="Calibri"/>
              </a:rPr>
              <a:t>GUILHERME AUGUSTO DE FARIA </a:t>
            </a:r>
            <a:r>
              <a:rPr lang="en-US" sz="1000" dirty="0">
                <a:latin typeface="Calibri"/>
                <a:ea typeface="Calibri"/>
                <a:cs typeface="Calibri"/>
              </a:rPr>
              <a:t>| </a:t>
            </a:r>
            <a:r>
              <a:rPr lang="pt-BR" sz="1000" dirty="0">
                <a:latin typeface="Calibri"/>
                <a:ea typeface="Calibri"/>
                <a:cs typeface="Calibri"/>
              </a:rPr>
              <a:t>40  - 4/AP</a:t>
            </a:r>
          </a:p>
          <a:p>
            <a:pPr algn="l">
              <a:lnSpc>
                <a:spcPct val="100000"/>
              </a:lnSpc>
            </a:pPr>
            <a:r>
              <a:rPr lang="en-US" sz="1000">
                <a:latin typeface="Calibri"/>
                <a:ea typeface="Calibri"/>
                <a:cs typeface="Calibri"/>
              </a:rPr>
              <a:t>IRONMAKING TECH UNIT PROC SR MANAGER 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Sucessor Imediato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  <a:endParaRPr lang="pt-BR"/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0000FF"/>
                </a:highlight>
                <a:latin typeface="Aptos Narrow"/>
                <a:ea typeface="Calibri"/>
                <a:cs typeface="Calibri"/>
              </a:rPr>
              <a:t>Em desenvolvimento</a:t>
            </a:r>
            <a:br>
              <a:rPr lang="pt-BR" sz="800" b="0" dirty="0">
                <a:latin typeface="Aptos Narrow"/>
                <a:ea typeface="Calibri"/>
                <a:cs typeface="Calibri"/>
              </a:rPr>
            </a:b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  <a:endParaRPr lang="pt-BR" sz="800" b="0">
              <a:solidFill>
                <a:srgbClr val="242424"/>
              </a:solidFill>
              <a:latin typeface="Aptos Narrow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C56D6172-5276-53CE-F4CF-F7ED09C6EC9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6" b="11526"/>
          <a:stretch/>
        </p:blipFill>
        <p:spPr>
          <a:xfrm>
            <a:off x="4396799" y="2232387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56A2451F-C7E4-34D2-C900-09D184971CCB}"/>
              </a:ext>
            </a:extLst>
          </p:cNvPr>
          <p:cNvSpPr txBox="1"/>
          <p:nvPr/>
        </p:nvSpPr>
        <p:spPr>
          <a:xfrm>
            <a:off x="975217" y="4146231"/>
            <a:ext cx="3221863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000" dirty="0">
                <a:latin typeface="Calibri"/>
                <a:ea typeface="Calibri"/>
                <a:cs typeface="Calibri"/>
              </a:rPr>
              <a:t>JOHNATAN FRANCIS DE SÁ | 38  - 5/AP</a:t>
            </a:r>
          </a:p>
          <a:p>
            <a:pPr algn="l">
              <a:lnSpc>
                <a:spcPct val="100000"/>
              </a:lnSpc>
            </a:pPr>
            <a:r>
              <a:rPr lang="en-US" sz="1000">
                <a:latin typeface="Calibri"/>
                <a:ea typeface="Calibri"/>
                <a:cs typeface="Calibri"/>
              </a:rPr>
              <a:t>COKE MAINTENANCE SR MANAGER </a:t>
            </a:r>
            <a:endParaRPr lang="pt-BR" sz="1000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cs typeface="Calibri"/>
              </a:rPr>
              <a:t>Sucessor Imediato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0000FF"/>
                </a:highlight>
                <a:latin typeface="Aptos Narrow"/>
                <a:cs typeface="Calibri"/>
              </a:rPr>
              <a:t>Em desenvolvimento</a:t>
            </a:r>
            <a:br>
              <a:rPr lang="pt-BR" sz="800" b="0" dirty="0">
                <a:latin typeface="Calibri"/>
                <a:ea typeface="Calibri"/>
                <a:cs typeface="Calibri"/>
              </a:rPr>
            </a:b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4F33DD2-B308-03B1-5959-AED4B9EA7CF1}"/>
              </a:ext>
            </a:extLst>
          </p:cNvPr>
          <p:cNvSpPr txBox="1"/>
          <p:nvPr/>
        </p:nvSpPr>
        <p:spPr>
          <a:xfrm>
            <a:off x="4972479" y="2232387"/>
            <a:ext cx="3105655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000">
                <a:latin typeface="Calibri"/>
                <a:ea typeface="Calibri"/>
                <a:cs typeface="Calibri"/>
              </a:rPr>
              <a:t>VINICIUS MITSUO KOJIMA CAMPOS | 35 – 4/AP </a:t>
            </a:r>
          </a:p>
          <a:p>
            <a:pPr algn="l">
              <a:lnSpc>
                <a:spcPct val="100000"/>
              </a:lnSpc>
            </a:pPr>
            <a:r>
              <a:rPr lang="en-US" sz="1000">
                <a:latin typeface="Calibri"/>
                <a:ea typeface="Calibri"/>
                <a:cs typeface="Calibri"/>
              </a:rPr>
              <a:t>HOT &amp; COLD ROLLING PROCESS DIRECTOR</a:t>
            </a:r>
            <a:endParaRPr lang="pt-BR" sz="1000">
              <a:latin typeface="Calibri"/>
              <a:ea typeface="Calibri"/>
              <a:cs typeface="Calibri"/>
            </a:endParaRPr>
          </a:p>
          <a:p>
            <a:r>
              <a:rPr lang="pt-BR" sz="80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Sucessor Imediato</a:t>
            </a:r>
            <a:endParaRPr lang="en-US" sz="800">
              <a:solidFill>
                <a:srgbClr val="000000"/>
              </a:solidFill>
              <a:latin typeface="Aptos Narrow"/>
              <a:ea typeface="Calibri"/>
              <a:cs typeface="Calibri"/>
            </a:endParaRPr>
          </a:p>
          <a:p>
            <a:r>
              <a:rPr lang="pt-BR" sz="80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  <a:endParaRPr lang="en-US"/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0000FF"/>
                </a:highlight>
                <a:latin typeface="Aptos Narrow"/>
                <a:cs typeface="Calibri"/>
              </a:rPr>
              <a:t>Em desenvolvimento</a:t>
            </a:r>
            <a:br>
              <a:rPr lang="pt-BR" sz="1000" dirty="0"/>
            </a:b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  <a:endParaRPr lang="pt-BR" sz="800" b="0">
              <a:solidFill>
                <a:srgbClr val="242424"/>
              </a:solidFill>
              <a:latin typeface="Aptos Narrow"/>
            </a:endParaRPr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C1FEB928-EBCA-F93F-92DD-F7A0D3CD6DD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6" b="11526"/>
          <a:stretch/>
        </p:blipFill>
        <p:spPr>
          <a:xfrm>
            <a:off x="4396799" y="3151628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7" name="CaixaDeTexto 46">
            <a:extLst>
              <a:ext uri="{FF2B5EF4-FFF2-40B4-BE49-F238E27FC236}">
                <a16:creationId xmlns:a16="http://schemas.microsoft.com/office/drawing/2014/main" id="{AD9E3DE5-72A6-203E-DEB0-F18E07A838C8}"/>
              </a:ext>
            </a:extLst>
          </p:cNvPr>
          <p:cNvSpPr txBox="1"/>
          <p:nvPr/>
        </p:nvSpPr>
        <p:spPr>
          <a:xfrm>
            <a:off x="4972479" y="3151628"/>
            <a:ext cx="2564247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000">
                <a:latin typeface="Calibri"/>
                <a:ea typeface="Calibri"/>
                <a:cs typeface="Calibri"/>
              </a:rPr>
              <a:t>ARTHUR DE CASTRO SOUZA | 43 – 5/AP</a:t>
            </a:r>
          </a:p>
          <a:p>
            <a:pPr algn="l">
              <a:lnSpc>
                <a:spcPct val="100000"/>
              </a:lnSpc>
            </a:pPr>
            <a:r>
              <a:rPr lang="en-US" sz="1000">
                <a:latin typeface="Calibri"/>
                <a:ea typeface="Calibri"/>
                <a:cs typeface="Calibri"/>
              </a:rPr>
              <a:t>GER PRODUCAO UNIGAL</a:t>
            </a:r>
            <a:br>
              <a:rPr lang="pt-BR" sz="1000" dirty="0">
                <a:latin typeface="Calibri"/>
                <a:ea typeface="Calibri"/>
                <a:cs typeface="Calibri"/>
              </a:rPr>
            </a:br>
            <a:r>
              <a:rPr lang="pt-BR" sz="80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cs typeface="Calibri"/>
              </a:rPr>
              <a:t>Sucessor Imediato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  <a:endParaRPr lang="pt-BR"/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0000FF"/>
                </a:highlight>
                <a:latin typeface="Aptos Narrow"/>
                <a:cs typeface="Calibri"/>
              </a:rPr>
              <a:t>Em desenvolvimento</a:t>
            </a:r>
            <a:br>
              <a:rPr lang="pt-BR" sz="800" b="0" dirty="0">
                <a:latin typeface="Calibri"/>
                <a:ea typeface="Calibri"/>
                <a:cs typeface="Calibri"/>
              </a:rPr>
            </a:b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  <a:endParaRPr lang="en-US" sz="800" b="0">
              <a:solidFill>
                <a:srgbClr val="242424"/>
              </a:solidFill>
              <a:latin typeface="Aptos Narrow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6B54532-1F09-007E-B61C-A29445FC3399}"/>
              </a:ext>
            </a:extLst>
          </p:cNvPr>
          <p:cNvSpPr txBox="1">
            <a:spLocks/>
          </p:cNvSpPr>
          <p:nvPr/>
        </p:nvSpPr>
        <p:spPr>
          <a:xfrm>
            <a:off x="454258" y="376759"/>
            <a:ext cx="6982883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800">
                <a:latin typeface="Verdana" panose="020B0604030504040204" pitchFamily="34" charset="0"/>
                <a:ea typeface="Verdana" panose="020B0604030504040204" pitchFamily="34" charset="0"/>
              </a:rPr>
              <a:t>TALENT REVIEW – ALTO POTENCIAL| C3&amp;4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56999CA-F103-4E79-CB35-2874E9DC1B7B}"/>
              </a:ext>
            </a:extLst>
          </p:cNvPr>
          <p:cNvSpPr txBox="1"/>
          <p:nvPr/>
        </p:nvSpPr>
        <p:spPr>
          <a:xfrm>
            <a:off x="8418354" y="684962"/>
            <a:ext cx="3288000" cy="266740"/>
          </a:xfrm>
          <a:prstGeom prst="rect">
            <a:avLst/>
          </a:prstGeom>
          <a:solidFill>
            <a:srgbClr val="25722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>
                <a:solidFill>
                  <a:schemeClr val="bg1"/>
                </a:solidFill>
              </a:rPr>
              <a:t>CEO3</a:t>
            </a:r>
            <a:endParaRPr lang="pt-BR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88CB0BA9-34E6-0C9C-2DA5-1CDCD24F24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6" b="11526"/>
          <a:stretch/>
        </p:blipFill>
        <p:spPr>
          <a:xfrm>
            <a:off x="8466471" y="1296476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FCEB0D56-87A4-A706-40DB-50C8E26A27AF}"/>
              </a:ext>
            </a:extLst>
          </p:cNvPr>
          <p:cNvSpPr txBox="1"/>
          <p:nvPr/>
        </p:nvSpPr>
        <p:spPr>
          <a:xfrm>
            <a:off x="9013720" y="1296476"/>
            <a:ext cx="2764933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000">
                <a:latin typeface="Calibri"/>
                <a:ea typeface="Calibri"/>
                <a:cs typeface="Calibri"/>
              </a:rPr>
              <a:t>DARLON CESAR KLEVESTON SOLIMAN | 36 – 3/AP</a:t>
            </a:r>
          </a:p>
          <a:p>
            <a:pPr algn="l">
              <a:lnSpc>
                <a:spcPct val="100000"/>
              </a:lnSpc>
            </a:pPr>
            <a:r>
              <a:rPr lang="en-US" sz="1000">
                <a:latin typeface="Calibri"/>
                <a:ea typeface="Calibri"/>
                <a:cs typeface="Calibri"/>
              </a:rPr>
              <a:t>COMMERCIAL EXECUTIVE SR MANAGER </a:t>
            </a:r>
            <a:br>
              <a:rPr lang="pt-BR" sz="1000" dirty="0">
                <a:latin typeface="Calibri"/>
                <a:ea typeface="Calibri"/>
                <a:cs typeface="Calibri"/>
              </a:rPr>
            </a:br>
            <a:r>
              <a:rPr lang="pt-BR" sz="80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cs typeface="Calibri"/>
              </a:rPr>
              <a:t>Sucessor Imediato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  <a:endParaRPr lang="pt-BR">
              <a:solidFill>
                <a:srgbClr val="000000"/>
              </a:solidFill>
              <a:latin typeface="Aptos"/>
            </a:endParaRPr>
          </a:p>
          <a:p>
            <a:r>
              <a:rPr lang="pt-BR" sz="800">
                <a:solidFill>
                  <a:schemeClr val="bg1"/>
                </a:solidFill>
                <a:highlight>
                  <a:srgbClr val="0000FF"/>
                </a:highlight>
                <a:latin typeface="Aptos Narrow"/>
              </a:rPr>
              <a:t>Em desenvolvimento</a:t>
            </a:r>
            <a:br>
              <a:rPr lang="pt-BR" sz="800" dirty="0">
                <a:solidFill>
                  <a:schemeClr val="bg1"/>
                </a:solidFill>
                <a:highlight>
                  <a:srgbClr val="0000FF"/>
                </a:highlight>
                <a:latin typeface="Aptos Narrow"/>
              </a:rPr>
            </a:b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1F09758C-7D17-51B3-8321-BA2893A406E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6" b="11526"/>
          <a:stretch/>
        </p:blipFill>
        <p:spPr>
          <a:xfrm>
            <a:off x="8466471" y="2232387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156B4E2A-40FD-B039-DE3A-37379D950E44}"/>
              </a:ext>
            </a:extLst>
          </p:cNvPr>
          <p:cNvSpPr txBox="1"/>
          <p:nvPr/>
        </p:nvSpPr>
        <p:spPr>
          <a:xfrm>
            <a:off x="9013720" y="2232387"/>
            <a:ext cx="2564247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000">
                <a:latin typeface="Calibri"/>
                <a:ea typeface="Calibri"/>
                <a:cs typeface="Calibri"/>
              </a:rPr>
              <a:t>LUCAS RESENDE DE MENDONCA | 35 – 4/AP</a:t>
            </a:r>
          </a:p>
          <a:p>
            <a:pPr algn="l">
              <a:lnSpc>
                <a:spcPct val="100000"/>
              </a:lnSpc>
            </a:pPr>
            <a:r>
              <a:rPr lang="en-US" sz="1000">
                <a:latin typeface="Calibri"/>
                <a:ea typeface="Calibri"/>
                <a:cs typeface="Calibri"/>
              </a:rPr>
              <a:t>COMMERCIAL EXECUTIVE SR MANAGER </a:t>
            </a:r>
            <a:br>
              <a:rPr lang="pt-BR" sz="800" dirty="0">
                <a:latin typeface="Calibri"/>
                <a:ea typeface="Calibri"/>
                <a:cs typeface="Calibri"/>
              </a:rPr>
            </a:br>
            <a:r>
              <a:rPr lang="pt-BR" sz="80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cs typeface="Calibri"/>
              </a:rPr>
              <a:t>Sucessor Imediato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  <a:endParaRPr lang="pt-BR"/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0000FF"/>
                </a:highlight>
                <a:latin typeface="Aptos Narrow"/>
                <a:cs typeface="Calibri"/>
              </a:rPr>
              <a:t>Em desenvolvimento</a:t>
            </a:r>
            <a:br>
              <a:rPr lang="pt-BR" sz="800" b="0" dirty="0">
                <a:latin typeface="Calibri"/>
                <a:ea typeface="Calibri"/>
                <a:cs typeface="Calibri"/>
              </a:rPr>
            </a:b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  <a:endParaRPr lang="pt-BR" sz="800" b="0">
              <a:solidFill>
                <a:srgbClr val="242424"/>
              </a:solidFill>
              <a:latin typeface="Aptos Narrow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8A4E38C2-7EB0-8AD7-D8D8-BECC06CD2C05}"/>
              </a:ext>
            </a:extLst>
          </p:cNvPr>
          <p:cNvCxnSpPr>
            <a:cxnSpLocks/>
          </p:cNvCxnSpPr>
          <p:nvPr/>
        </p:nvCxnSpPr>
        <p:spPr>
          <a:xfrm>
            <a:off x="454257" y="559149"/>
            <a:ext cx="5146443" cy="0"/>
          </a:xfrm>
          <a:prstGeom prst="line">
            <a:avLst/>
          </a:prstGeom>
          <a:noFill/>
          <a:ln w="19050" cap="flat" cmpd="sng" algn="ctr">
            <a:solidFill>
              <a:srgbClr val="84BD00"/>
            </a:solidFill>
            <a:prstDash val="solid"/>
            <a:miter lim="800000"/>
          </a:ln>
          <a:effectLst/>
        </p:spPr>
      </p:cxnSp>
      <p:grpSp>
        <p:nvGrpSpPr>
          <p:cNvPr id="8" name="Agrupar 7">
            <a:extLst>
              <a:ext uri="{FF2B5EF4-FFF2-40B4-BE49-F238E27FC236}">
                <a16:creationId xmlns:a16="http://schemas.microsoft.com/office/drawing/2014/main" id="{298668BB-1886-FABF-F835-29BDADAB4DCC}"/>
              </a:ext>
            </a:extLst>
          </p:cNvPr>
          <p:cNvGrpSpPr/>
          <p:nvPr/>
        </p:nvGrpSpPr>
        <p:grpSpPr>
          <a:xfrm>
            <a:off x="8394643" y="1025485"/>
            <a:ext cx="2925311" cy="246221"/>
            <a:chOff x="67008" y="1040837"/>
            <a:chExt cx="2925310" cy="369332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27A345DD-5AE1-C9F5-CA0E-6586B605B07A}"/>
                </a:ext>
              </a:extLst>
            </p:cNvPr>
            <p:cNvCxnSpPr/>
            <p:nvPr/>
          </p:nvCxnSpPr>
          <p:spPr>
            <a:xfrm>
              <a:off x="117233" y="1292295"/>
              <a:ext cx="287508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513ECCDA-80B6-05D3-1D97-849854B8E1E1}"/>
                </a:ext>
              </a:extLst>
            </p:cNvPr>
            <p:cNvSpPr txBox="1"/>
            <p:nvPr/>
          </p:nvSpPr>
          <p:spPr>
            <a:xfrm>
              <a:off x="67008" y="1040837"/>
              <a:ext cx="2374426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pt-BR" sz="1000"/>
                <a:t>CEO4</a:t>
              </a:r>
            </a:p>
          </p:txBody>
        </p:sp>
      </p:grpSp>
      <p:pic>
        <p:nvPicPr>
          <p:cNvPr id="18" name="Imagem 17">
            <a:extLst>
              <a:ext uri="{FF2B5EF4-FFF2-40B4-BE49-F238E27FC236}">
                <a16:creationId xmlns:a16="http://schemas.microsoft.com/office/drawing/2014/main" id="{1684D0F2-4436-A9F2-7AF2-91159A8911D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12" b="12512"/>
          <a:stretch/>
        </p:blipFill>
        <p:spPr>
          <a:xfrm>
            <a:off x="413121" y="2232387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8E076048-E23E-086D-5DC1-1A9345530E48}"/>
              </a:ext>
            </a:extLst>
          </p:cNvPr>
          <p:cNvSpPr txBox="1"/>
          <p:nvPr/>
        </p:nvSpPr>
        <p:spPr>
          <a:xfrm>
            <a:off x="975217" y="2232387"/>
            <a:ext cx="3107041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000" dirty="0">
                <a:latin typeface="Calibri"/>
                <a:ea typeface="Calibri"/>
                <a:cs typeface="Calibri"/>
              </a:rPr>
              <a:t>GESIANE LETICIA ALVES | 34  - 4/AP</a:t>
            </a:r>
          </a:p>
          <a:p>
            <a:pPr algn="l">
              <a:lnSpc>
                <a:spcPct val="100000"/>
              </a:lnSpc>
            </a:pPr>
            <a:r>
              <a:rPr lang="en-US" sz="1000">
                <a:latin typeface="Calibri"/>
                <a:ea typeface="Calibri"/>
                <a:cs typeface="Calibri"/>
              </a:rPr>
              <a:t>REFRAC &amp; STEEL. SERV OP SR MANAGER</a:t>
            </a:r>
          </a:p>
          <a:p>
            <a:r>
              <a:rPr lang="pt-BR" sz="80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Sucessor Imediato</a:t>
            </a:r>
            <a:endParaRPr lang="en-US" sz="800">
              <a:solidFill>
                <a:srgbClr val="000000"/>
              </a:solidFill>
              <a:latin typeface="Aptos Narrow"/>
              <a:ea typeface="Calibri"/>
              <a:cs typeface="Calibri"/>
            </a:endParaRPr>
          </a:p>
          <a:p>
            <a:r>
              <a:rPr lang="pt-BR" sz="80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  <a:endParaRPr lang="en-US"/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0000FF"/>
                </a:highlight>
                <a:latin typeface="Aptos Narrow"/>
                <a:ea typeface="Calibri"/>
                <a:cs typeface="Calibri"/>
              </a:rPr>
              <a:t>Em desenvolvimento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A2725B3-1EAC-A25F-71DA-C91B52FFB2AA}"/>
              </a:ext>
            </a:extLst>
          </p:cNvPr>
          <p:cNvSpPr txBox="1"/>
          <p:nvPr/>
        </p:nvSpPr>
        <p:spPr>
          <a:xfrm>
            <a:off x="4972479" y="1296476"/>
            <a:ext cx="2764933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000" dirty="0">
                <a:latin typeface="Calibri"/>
                <a:ea typeface="Calibri"/>
                <a:cs typeface="Calibri"/>
              </a:rPr>
              <a:t>LYZIA JANNE FONDA M. L. LOPES | 35  - 4/AP</a:t>
            </a:r>
          </a:p>
          <a:p>
            <a:pPr algn="l">
              <a:lnSpc>
                <a:spcPct val="100000"/>
              </a:lnSpc>
            </a:pPr>
            <a:r>
              <a:rPr lang="en-US" sz="1000" dirty="0">
                <a:latin typeface="Calibri"/>
                <a:ea typeface="Calibri"/>
                <a:cs typeface="Calibri"/>
              </a:rPr>
              <a:t>BYPROD &amp; MOBILE EQUIPM OPER SR MANAGER</a:t>
            </a:r>
          </a:p>
          <a:p>
            <a:r>
              <a:rPr lang="pt-BR" sz="800" dirty="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Sucessor Imediato</a:t>
            </a:r>
            <a:endParaRPr lang="en-US" sz="800" dirty="0">
              <a:solidFill>
                <a:schemeClr val="bg1"/>
              </a:solidFill>
              <a:latin typeface="Aptos Narrow"/>
              <a:ea typeface="Calibri"/>
              <a:cs typeface="Calibri"/>
            </a:endParaRPr>
          </a:p>
          <a:p>
            <a:r>
              <a:rPr lang="pt-BR" sz="800" dirty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  <a:endParaRPr lang="pt-BR" dirty="0"/>
          </a:p>
          <a:p>
            <a:pPr algn="l">
              <a:lnSpc>
                <a:spcPct val="100000"/>
              </a:lnSpc>
            </a:pPr>
            <a:r>
              <a:rPr lang="pt-BR" sz="800" dirty="0">
                <a:solidFill>
                  <a:schemeClr val="bg1"/>
                </a:solidFill>
                <a:highlight>
                  <a:srgbClr val="0000FF"/>
                </a:highlight>
                <a:latin typeface="Aptos Narrow"/>
                <a:ea typeface="Calibri"/>
                <a:cs typeface="Calibri"/>
              </a:rPr>
              <a:t>Em desenvolvimento</a:t>
            </a:r>
          </a:p>
          <a:p>
            <a:pPr algn="l">
              <a:lnSpc>
                <a:spcPct val="100000"/>
              </a:lnSpc>
            </a:pPr>
            <a:r>
              <a:rPr lang="pt-BR" sz="800" dirty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  <a:endParaRPr lang="pt-BR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DC4E95E9-0054-C730-B175-68C95A2E7B0F}"/>
              </a:ext>
            </a:extLst>
          </p:cNvPr>
          <p:cNvGrpSpPr/>
          <p:nvPr/>
        </p:nvGrpSpPr>
        <p:grpSpPr>
          <a:xfrm>
            <a:off x="4378371" y="1025485"/>
            <a:ext cx="2925311" cy="246221"/>
            <a:chOff x="67008" y="1040837"/>
            <a:chExt cx="2925310" cy="369332"/>
          </a:xfrm>
        </p:grpSpPr>
        <p:cxnSp>
          <p:nvCxnSpPr>
            <p:cNvPr id="23" name="Conector reto 22">
              <a:extLst>
                <a:ext uri="{FF2B5EF4-FFF2-40B4-BE49-F238E27FC236}">
                  <a16:creationId xmlns:a16="http://schemas.microsoft.com/office/drawing/2014/main" id="{2581A2A6-1F27-54D4-BBBB-1AA9B7EE86A7}"/>
                </a:ext>
              </a:extLst>
            </p:cNvPr>
            <p:cNvCxnSpPr/>
            <p:nvPr/>
          </p:nvCxnSpPr>
          <p:spPr>
            <a:xfrm>
              <a:off x="117233" y="1292295"/>
              <a:ext cx="287508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0967CF6D-2078-114D-7C31-25A28C34E3E1}"/>
                </a:ext>
              </a:extLst>
            </p:cNvPr>
            <p:cNvSpPr txBox="1"/>
            <p:nvPr/>
          </p:nvSpPr>
          <p:spPr>
            <a:xfrm>
              <a:off x="67008" y="1040837"/>
              <a:ext cx="2374426" cy="36933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pt-BR" sz="1000"/>
                <a:t>CEO4</a:t>
              </a:r>
            </a:p>
          </p:txBody>
        </p:sp>
      </p:grp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101AE57-8886-D413-246B-B9F1B2187F1F}"/>
              </a:ext>
            </a:extLst>
          </p:cNvPr>
          <p:cNvSpPr txBox="1"/>
          <p:nvPr/>
        </p:nvSpPr>
        <p:spPr>
          <a:xfrm>
            <a:off x="4972479" y="4146231"/>
            <a:ext cx="2764933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000" dirty="0">
                <a:latin typeface="Calibri"/>
                <a:ea typeface="Calibri"/>
                <a:cs typeface="Calibri"/>
              </a:rPr>
              <a:t>IZABELA DINIZ DUARTE BISI | 37  - 3/AP</a:t>
            </a:r>
          </a:p>
          <a:p>
            <a:pPr algn="l">
              <a:lnSpc>
                <a:spcPct val="100000"/>
              </a:lnSpc>
            </a:pPr>
            <a:r>
              <a:rPr lang="en-US" sz="1000" dirty="0">
                <a:latin typeface="Calibri"/>
                <a:ea typeface="Calibri"/>
                <a:cs typeface="Calibri"/>
              </a:rPr>
              <a:t>GER TECNICO UNIGAL</a:t>
            </a:r>
          </a:p>
          <a:p>
            <a:pPr algn="l">
              <a:lnSpc>
                <a:spcPct val="100000"/>
              </a:lnSpc>
            </a:pPr>
            <a:r>
              <a:rPr lang="pt-BR" sz="800" dirty="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cs typeface="Calibri"/>
              </a:rPr>
              <a:t>Sucessor Imediato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pt-BR" sz="800" dirty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  <a:endParaRPr lang="pt-BR" dirty="0"/>
          </a:p>
          <a:p>
            <a:r>
              <a:rPr lang="pt-BR" sz="800" dirty="0">
                <a:solidFill>
                  <a:schemeClr val="bg1"/>
                </a:solidFill>
                <a:highlight>
                  <a:srgbClr val="0000FF"/>
                </a:highlight>
                <a:latin typeface="Aptos Narrow"/>
                <a:ea typeface="Calibri"/>
                <a:cs typeface="Calibri"/>
              </a:rPr>
              <a:t>Em desenvolvimento</a:t>
            </a:r>
            <a:endParaRPr lang="pt-BR" dirty="0">
              <a:solidFill>
                <a:schemeClr val="bg1"/>
              </a:solidFill>
            </a:endParaRPr>
          </a:p>
          <a:p>
            <a:r>
              <a:rPr lang="pt-BR" sz="800" dirty="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  <a:endParaRPr lang="pt-BR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68C9351F-3606-7CE8-AF08-3B15E9E4D5DD}"/>
              </a:ext>
            </a:extLst>
          </p:cNvPr>
          <p:cNvSpPr txBox="1"/>
          <p:nvPr/>
        </p:nvSpPr>
        <p:spPr>
          <a:xfrm>
            <a:off x="4395082" y="684962"/>
            <a:ext cx="3288000" cy="266740"/>
          </a:xfrm>
          <a:prstGeom prst="rect">
            <a:avLst/>
          </a:prstGeom>
          <a:solidFill>
            <a:srgbClr val="25722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12771"/>
            <a:r>
              <a:rPr lang="pt-BR" sz="1400">
                <a:solidFill>
                  <a:schemeClr val="bg1"/>
                </a:solidFill>
              </a:rPr>
              <a:t>CEO3</a:t>
            </a:r>
            <a:endParaRPr lang="pt-BR"/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2E6F8F52-1CC4-4B52-E3B0-43BEF74F871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41" b="11441"/>
          <a:stretch/>
        </p:blipFill>
        <p:spPr>
          <a:xfrm>
            <a:off x="4396799" y="1296476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BA73EF26-6348-90A0-51C6-A34055AFE22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6" b="11526"/>
          <a:stretch/>
        </p:blipFill>
        <p:spPr>
          <a:xfrm>
            <a:off x="4396799" y="4146231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9AD4DC98-77F3-D45A-D0F6-61E0F2B2000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9" b="11279"/>
          <a:stretch/>
        </p:blipFill>
        <p:spPr>
          <a:xfrm>
            <a:off x="8466471" y="3151628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7" name="CaixaDeTexto 66">
            <a:extLst>
              <a:ext uri="{FF2B5EF4-FFF2-40B4-BE49-F238E27FC236}">
                <a16:creationId xmlns:a16="http://schemas.microsoft.com/office/drawing/2014/main" id="{FEC6F281-4626-3195-1FE7-065D53E52DF6}"/>
              </a:ext>
            </a:extLst>
          </p:cNvPr>
          <p:cNvSpPr txBox="1"/>
          <p:nvPr/>
        </p:nvSpPr>
        <p:spPr>
          <a:xfrm>
            <a:off x="9013720" y="3151628"/>
            <a:ext cx="2564247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000" dirty="0"/>
              <a:t>RAFAEL ALVES OLIVEIRA </a:t>
            </a:r>
            <a:r>
              <a:rPr lang="pt-BR" sz="1000" dirty="0">
                <a:latin typeface="Calibri"/>
                <a:ea typeface="Calibri"/>
                <a:cs typeface="Calibri"/>
              </a:rPr>
              <a:t>| 34  - 3/AP</a:t>
            </a:r>
            <a:endParaRPr lang="pt-BR" sz="1000" dirty="0"/>
          </a:p>
          <a:p>
            <a:r>
              <a:rPr lang="en-US" sz="1000">
                <a:latin typeface="Calibri"/>
                <a:ea typeface="Calibri"/>
                <a:cs typeface="Calibri"/>
              </a:rPr>
              <a:t>TRANSPORT LOGISTICS SR MANAGER</a:t>
            </a:r>
          </a:p>
          <a:p>
            <a:r>
              <a:rPr lang="pt-BR" sz="80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ea typeface="Calibri"/>
                <a:cs typeface="Calibri"/>
              </a:rPr>
              <a:t>Sucessor Imediato</a:t>
            </a:r>
            <a:endParaRPr lang="en-US" sz="800">
              <a:solidFill>
                <a:schemeClr val="bg1"/>
              </a:solidFill>
              <a:latin typeface="Aptos Narrow"/>
              <a:ea typeface="Calibri"/>
              <a:cs typeface="Calibri"/>
            </a:endParaRP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  <a:br>
              <a:rPr lang="pt-BR" sz="1000" dirty="0">
                <a:latin typeface="Calibri"/>
                <a:ea typeface="Calibri"/>
                <a:cs typeface="Calibri"/>
              </a:rPr>
            </a:br>
            <a:r>
              <a:rPr lang="pt-BR" sz="800">
                <a:solidFill>
                  <a:schemeClr val="bg1"/>
                </a:solidFill>
                <a:highlight>
                  <a:srgbClr val="0000FF"/>
                </a:highlight>
                <a:latin typeface="Aptos Narrow"/>
                <a:cs typeface="Calibri"/>
              </a:rPr>
              <a:t>Em desenvolvimento </a:t>
            </a:r>
            <a:endParaRPr lang="pt-BR">
              <a:solidFill>
                <a:schemeClr val="bg1"/>
              </a:solidFill>
            </a:endParaRP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</a:rPr>
              <a:t>LOREM</a:t>
            </a:r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21E5E6-2245-5B9A-45D6-17F78FA8E854}"/>
              </a:ext>
            </a:extLst>
          </p:cNvPr>
          <p:cNvSpPr txBox="1"/>
          <p:nvPr/>
        </p:nvSpPr>
        <p:spPr>
          <a:xfrm>
            <a:off x="9013720" y="4146231"/>
            <a:ext cx="2764933" cy="861774"/>
          </a:xfrm>
          <a:prstGeom prst="rect">
            <a:avLst/>
          </a:prstGeom>
          <a:noFill/>
        </p:spPr>
        <p:txBody>
          <a:bodyPr wrap="square" lIns="60960" tIns="30480" rIns="60960" bIns="3048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pt-BR" sz="1000" dirty="0">
                <a:latin typeface="Calibri"/>
                <a:ea typeface="Calibri"/>
                <a:cs typeface="Calibri"/>
              </a:rPr>
              <a:t>IZABELA DINIZ DUARTE BISI | 37  - 3/AP</a:t>
            </a:r>
          </a:p>
          <a:p>
            <a:pPr algn="l">
              <a:lnSpc>
                <a:spcPct val="100000"/>
              </a:lnSpc>
            </a:pPr>
            <a:r>
              <a:rPr lang="en-US" sz="1000">
                <a:latin typeface="Calibri"/>
                <a:ea typeface="Calibri"/>
                <a:cs typeface="Calibri"/>
              </a:rPr>
              <a:t>GER TECNICO UNIGAL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84BD00"/>
                </a:highlight>
                <a:latin typeface="Aptos Narrow"/>
                <a:cs typeface="Calibri"/>
              </a:rPr>
              <a:t>Sucessor Imediato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  <a:endParaRPr lang="pt-BR"/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chemeClr val="bg1"/>
                </a:solidFill>
                <a:highlight>
                  <a:srgbClr val="0000FF"/>
                </a:highlight>
                <a:latin typeface="Aptos Narrow"/>
                <a:ea typeface="Calibri"/>
                <a:cs typeface="Calibri"/>
              </a:rPr>
              <a:t>Em desenvolvimento</a:t>
            </a:r>
          </a:p>
          <a:p>
            <a:pPr algn="l">
              <a:lnSpc>
                <a:spcPct val="100000"/>
              </a:lnSpc>
            </a:pPr>
            <a:r>
              <a:rPr lang="pt-BR" sz="800">
                <a:solidFill>
                  <a:srgbClr val="242424"/>
                </a:solidFill>
                <a:latin typeface="Aptos Narrow"/>
                <a:ea typeface="Calibri"/>
                <a:cs typeface="Calibri"/>
              </a:rPr>
              <a:t>LOREM</a:t>
            </a:r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D88B49-4589-97D2-C951-75871768CFA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26" b="11526"/>
          <a:stretch/>
        </p:blipFill>
        <p:spPr>
          <a:xfrm>
            <a:off x="8466471" y="4146231"/>
            <a:ext cx="455144" cy="468000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94364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63ddd65-1730-4534-8c60-5237bc7237f7}" enabled="1" method="Standard" siteId="{f42fc9cf-67de-42f2-a997-d920d85e69a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269</Words>
  <Application>Microsoft Office PowerPoint</Application>
  <PresentationFormat>Widescreen</PresentationFormat>
  <Paragraphs>70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Aptos Narrow</vt:lpstr>
      <vt:lpstr>Arial</vt:lpstr>
      <vt:lpstr>Calibri</vt:lpstr>
      <vt:lpstr>Verdana</vt:lpstr>
      <vt:lpstr>Wingdings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Igor Gabriel De Souza Barbosa</cp:lastModifiedBy>
  <cp:revision>61</cp:revision>
  <dcterms:created xsi:type="dcterms:W3CDTF">2026-04-13T19:26:02Z</dcterms:created>
  <dcterms:modified xsi:type="dcterms:W3CDTF">2026-04-17T12:14:22Z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Classificação da informação: Confidencial Grupo de Acesso:</vt:lpwstr>
  </property>
</Properties>
</file>