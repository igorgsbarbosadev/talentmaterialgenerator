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26B082-5C01-22F3-3893-DAFD615A2EB9}" v="43" dt="2026-04-07T00:12:35.9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637DD6-E344-04D2-5AC8-6CAC7E1565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34DD25B-BA6E-D7E0-2B4B-1B7DA60973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11FAD5-DC06-8C0C-EBFC-87246E4D9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2CA13-B1CB-4DB6-BB89-A570F08FEA76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4794429-1F03-CF9F-514A-43C2453D7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393CF4D-75B1-8796-A2C8-D2945E71F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358CF-194B-474D-9C67-F70CDBE84C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0133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D57E25-4ACE-69A9-83DB-8E031670B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55D99D-6AB5-749D-C086-27998A2F5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A2D85D-CA9E-3D16-E326-9FADFFD9A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2CA13-B1CB-4DB6-BB89-A570F08FEA76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A4CE32-FC7E-0956-8FC4-A779C6C73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A0E238-7980-A319-E4A3-9E97BB093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358CF-194B-474D-9C67-F70CDBE84C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8887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1C98E5-71AE-B970-7499-385E4E999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470A5C0-D074-99F9-C9FB-D88DF9C08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C05C8F-5F45-DFBA-CD95-E2B59356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2CA13-B1CB-4DB6-BB89-A570F08FEA76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F48C76-E4BA-52F8-A723-DDEB2808E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E1E5B2-24BE-FDFE-7DBD-94D49323C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358CF-194B-474D-9C67-F70CDBE84C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2290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ADE04D-2CAC-36BD-2962-459DC45E8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6C92DE-F30E-4A7A-9BC4-CAE4226E63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39FC302-E401-7FE2-1A71-B332E44C49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277A8ED-BDD6-D922-CCB2-5F186DD3C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2CA13-B1CB-4DB6-BB89-A570F08FEA76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09DA86D-A6D4-DFB1-5840-2736D116C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57668B9-FEF8-B4AC-4C50-036A8C26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358CF-194B-474D-9C67-F70CDBE84C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0594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9293FA-F315-18C5-B7BF-6F53FEE97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C47C878-8DB7-C74C-B659-6070E9B7C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1CFDB39-6FEF-B2D4-71AF-9B78D486A7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BF5FB02-3A96-7A9E-B9EF-044238885D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72FCFE4-35E3-899B-76C9-D21C0C22AC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8FDB496-B756-5B1B-E4A5-16861BB85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2CA13-B1CB-4DB6-BB89-A570F08FEA76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7CA7B6A-442B-5EF3-76CF-EFE9C4DDE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F53FFA3-0D2A-DCC3-5139-D19521D7A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358CF-194B-474D-9C67-F70CDBE84C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599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6EEA7F-5CA6-1434-4391-9DFA3BAEC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8FDA8A4-A4A7-4C30-1587-D07008FF7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2CA13-B1CB-4DB6-BB89-A570F08FEA76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54F5092-A9A6-BE0A-CF33-6623F28D7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74A0E88-E493-68A3-181C-3F91F5FF2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358CF-194B-474D-9C67-F70CDBE84C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5697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3A976F9-18A4-3D1C-55BC-889260D57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2CA13-B1CB-4DB6-BB89-A570F08FEA76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21729F1-86D8-8174-5C49-F9A99767A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6D8A7F5-310B-E01B-3C08-9B3D9D5AB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358CF-194B-474D-9C67-F70CDBE84C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4813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75AF7A-7519-0957-56CC-D8517AD4A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9553D4-0A1F-D7FF-91AB-64856EB2F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B49B326-95AE-FE27-6E28-B1C8A022FB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3A43031-55C7-EB9E-EE62-6FDB304CD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2CA13-B1CB-4DB6-BB89-A570F08FEA76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A747EBF-8CCB-9779-8CFA-8FCAC566D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09DA90-76D5-432F-D0B2-C60DAA389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358CF-194B-474D-9C67-F70CDBE84C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0514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E5DFBF-1099-226D-0C35-CB46D9E72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5595E16-090D-467E-18AB-0AE86D062A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D09F138-7525-649A-A3F6-8D1F22D1E1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0F96A8A-0942-1259-6F46-4657B4409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2CA13-B1CB-4DB6-BB89-A570F08FEA76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FE5367D-5792-180C-8133-FA5775A18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2BCCBF3-F892-E824-7948-01BD4C6E5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358CF-194B-474D-9C67-F70CDBE84C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7273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DF9589-038D-4F0C-BE6E-26F24825A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6881433-00A7-0835-514B-19D87FE00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D45401-5BB5-423C-A034-065A0702A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2CA13-B1CB-4DB6-BB89-A570F08FEA76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9B3FBA6-CA63-68D4-4D5C-58877E85C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2F1EF2-50B8-AD0A-9628-A878753CC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358CF-194B-474D-9C67-F70CDBE84C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3279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8E297B5-0EA2-4D21-9577-B6A9FA495F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10BDD4B-2170-7EE9-0670-CB524B66C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6E7CE2-1305-3152-1D40-1E3533159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2CA13-B1CB-4DB6-BB89-A570F08FEA76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586361-DE7C-4B8A-A6A0-737BE4BC4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E2F9196-5D1F-4AFD-C80C-765C7A63E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358CF-194B-474D-9C67-F70CDBE84C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4778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15FDE5E-4419-02EC-475B-7C07BA1F9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C3509FC-ED78-777C-2D7B-81D6B4D15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767BD79-ECDB-CCC0-8484-397EC47062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E2CA13-B1CB-4DB6-BB89-A570F08FEA76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50636D8-7E26-6F6C-D7F4-E74829F379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4FBE79-0060-98CF-2E5E-DE8E3701B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4358CF-194B-474D-9C67-F70CDBE84C03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A393CC4-B2CB-8D4D-7205-94A4C748F7D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72580"/>
            <a:ext cx="358140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8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Classificação da informação: Confidencial Grupo de Acesso: Destinatários deste e-mail</a:t>
            </a:r>
          </a:p>
        </p:txBody>
      </p:sp>
    </p:spTree>
    <p:extLst>
      <p:ext uri="{BB962C8B-B14F-4D97-AF65-F5344CB8AC3E}">
        <p14:creationId xmlns:p14="http://schemas.microsoft.com/office/powerpoint/2010/main" val="3146437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13">
            <a:extLst>
              <a:ext uri="{FF2B5EF4-FFF2-40B4-BE49-F238E27FC236}">
                <a16:creationId xmlns:a16="http://schemas.microsoft.com/office/drawing/2014/main" id="{B493837A-AD3E-D666-FD68-7FF996261A7D}"/>
              </a:ext>
            </a:extLst>
          </p:cNvPr>
          <p:cNvSpPr txBox="1"/>
          <p:nvPr/>
        </p:nvSpPr>
        <p:spPr>
          <a:xfrm>
            <a:off x="2012347" y="1254830"/>
            <a:ext cx="3596955" cy="81560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pt-BR"/>
            </a:defPPr>
            <a:lvl1pPr marL="0" algn="ctr" defTabSz="914400" rtl="0" eaLnBrk="1" fontAlgn="ctr" latinLnBrk="0" hangingPunct="1">
              <a:lnSpc>
                <a:spcPct val="150000"/>
              </a:lnSpc>
              <a:defRPr sz="1000" b="1" i="0" u="none" strike="noStrike" kern="120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1300" dirty="0">
                <a:latin typeface="Calibri"/>
                <a:ea typeface="Calibri"/>
                <a:cs typeface="Calibri"/>
              </a:rPr>
              <a:t>NOME | IDADE  - NOTA/POTENCIAL</a:t>
            </a:r>
          </a:p>
          <a:p>
            <a:pPr algn="l">
              <a:lnSpc>
                <a:spcPct val="100000"/>
              </a:lnSpc>
            </a:pPr>
            <a:r>
              <a:rPr lang="en-US" sz="1300">
                <a:latin typeface="Calibri"/>
                <a:ea typeface="Calibri"/>
                <a:cs typeface="Calibri"/>
              </a:rPr>
              <a:t>FORMACAO</a:t>
            </a:r>
            <a:endParaRPr lang="pt-BR"/>
          </a:p>
          <a:p>
            <a:pPr algn="l">
              <a:lnSpc>
                <a:spcPct val="100000"/>
              </a:lnSpc>
            </a:pPr>
            <a:r>
              <a:rPr lang="pt-BR" sz="1100">
                <a:solidFill>
                  <a:schemeClr val="bg1"/>
                </a:solidFill>
                <a:highlight>
                  <a:srgbClr val="84BD00"/>
                </a:highlight>
                <a:latin typeface="Aptos Narrow"/>
                <a:ea typeface="Calibri"/>
                <a:cs typeface="Calibri"/>
              </a:rPr>
              <a:t>CARGO</a:t>
            </a:r>
          </a:p>
          <a:p>
            <a:pPr algn="l">
              <a:lnSpc>
                <a:spcPct val="100000"/>
              </a:lnSpc>
            </a:pPr>
            <a:r>
              <a:rPr lang="en-US" b="0">
                <a:solidFill>
                  <a:srgbClr val="242424"/>
                </a:solidFill>
                <a:latin typeface="Aptos Narrow"/>
                <a:ea typeface="Calibri"/>
                <a:cs typeface="Calibri"/>
              </a:rPr>
              <a:t>CEO3</a:t>
            </a:r>
            <a:endParaRPr lang="pt-BR" b="0" dirty="0">
              <a:solidFill>
                <a:srgbClr val="242424"/>
              </a:solidFill>
              <a:latin typeface="Aptos Narrow"/>
              <a:ea typeface="Calibri"/>
              <a:cs typeface="Calibri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9275BD6-E014-90EF-9365-E66AB39CDA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64" b="12964"/>
          <a:stretch/>
        </p:blipFill>
        <p:spPr>
          <a:xfrm>
            <a:off x="927560" y="1254830"/>
            <a:ext cx="1066100" cy="1000274"/>
          </a:xfrm>
          <a:prstGeom prst="ellipse">
            <a:avLst/>
          </a:prstGeom>
          <a:ln w="63500" cap="rnd">
            <a:noFill/>
          </a:ln>
          <a:effectLst/>
        </p:spPr>
      </p:pic>
      <p:sp>
        <p:nvSpPr>
          <p:cNvPr id="10" name="CaixaDeTexto 13">
            <a:extLst>
              <a:ext uri="{FF2B5EF4-FFF2-40B4-BE49-F238E27FC236}">
                <a16:creationId xmlns:a16="http://schemas.microsoft.com/office/drawing/2014/main" id="{25D10952-D1C1-A786-0BBD-A2BAFE63419B}"/>
              </a:ext>
            </a:extLst>
          </p:cNvPr>
          <p:cNvSpPr txBox="1"/>
          <p:nvPr/>
        </p:nvSpPr>
        <p:spPr>
          <a:xfrm>
            <a:off x="2017264" y="2360962"/>
            <a:ext cx="3596955" cy="81560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pt-BR"/>
            </a:defPPr>
            <a:lvl1pPr marL="0" algn="ctr" defTabSz="914400" rtl="0" eaLnBrk="1" fontAlgn="ctr" latinLnBrk="0" hangingPunct="1">
              <a:lnSpc>
                <a:spcPct val="150000"/>
              </a:lnSpc>
              <a:defRPr sz="1000" b="1" i="0" u="none" strike="noStrike" kern="120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1300" dirty="0">
                <a:latin typeface="Calibri"/>
                <a:ea typeface="Calibri"/>
                <a:cs typeface="Calibri"/>
              </a:rPr>
              <a:t>Ana Carolina Alves Melo Gouveia | 27  - 4/AP</a:t>
            </a:r>
          </a:p>
          <a:p>
            <a:pPr algn="l">
              <a:lnSpc>
                <a:spcPct val="100000"/>
              </a:lnSpc>
            </a:pPr>
            <a:r>
              <a:rPr lang="en-US" sz="1300" dirty="0">
                <a:latin typeface="Calibri"/>
                <a:ea typeface="Calibri"/>
                <a:cs typeface="Calibri"/>
              </a:rPr>
              <a:t>Eng. </a:t>
            </a:r>
            <a:r>
              <a:rPr lang="en-US" sz="1300" dirty="0" err="1">
                <a:latin typeface="Calibri"/>
                <a:ea typeface="Calibri"/>
                <a:cs typeface="Calibri"/>
              </a:rPr>
              <a:t>Química</a:t>
            </a:r>
            <a:r>
              <a:rPr lang="en-US" sz="1300" dirty="0">
                <a:latin typeface="Calibri"/>
                <a:ea typeface="Calibri"/>
                <a:cs typeface="Calibri"/>
              </a:rPr>
              <a:t> - UFSJ</a:t>
            </a:r>
            <a:endParaRPr lang="pt-BR" sz="1500" dirty="0">
              <a:latin typeface="Calibri"/>
              <a:ea typeface="Calibri"/>
              <a:cs typeface="Calibri"/>
            </a:endParaRPr>
          </a:p>
          <a:p>
            <a:pPr algn="l">
              <a:lnSpc>
                <a:spcPct val="100000"/>
              </a:lnSpc>
            </a:pPr>
            <a:r>
              <a:rPr lang="pt-BR" sz="1100" dirty="0" err="1">
                <a:solidFill>
                  <a:schemeClr val="bg1"/>
                </a:solidFill>
                <a:highlight>
                  <a:srgbClr val="84BD00"/>
                </a:highlight>
                <a:latin typeface="Aptos Narrow"/>
                <a:ea typeface="Calibri"/>
                <a:cs typeface="Calibri"/>
              </a:rPr>
              <a:t>Engineering</a:t>
            </a:r>
            <a:r>
              <a:rPr lang="pt-BR" sz="1100" dirty="0">
                <a:solidFill>
                  <a:schemeClr val="bg1"/>
                </a:solidFill>
                <a:highlight>
                  <a:srgbClr val="84BD00"/>
                </a:highlight>
                <a:latin typeface="Aptos Narrow"/>
                <a:ea typeface="Calibri"/>
                <a:cs typeface="Calibri"/>
              </a:rPr>
              <a:t> Global Trainee – GT2</a:t>
            </a:r>
          </a:p>
          <a:p>
            <a:pPr algn="l">
              <a:lnSpc>
                <a:spcPct val="100000"/>
              </a:lnSpc>
            </a:pPr>
            <a:r>
              <a:rPr lang="en-US" b="0" dirty="0">
                <a:solidFill>
                  <a:srgbClr val="242424"/>
                </a:solidFill>
                <a:latin typeface="Aptos Narrow"/>
                <a:ea typeface="Calibri"/>
                <a:cs typeface="Calibri"/>
              </a:rPr>
              <a:t>Hot &amp; Cold Rolling (P) - USI</a:t>
            </a:r>
            <a:endParaRPr lang="pt-BR" b="0" dirty="0">
              <a:solidFill>
                <a:srgbClr val="242424"/>
              </a:solidFill>
              <a:latin typeface="Aptos Narrow"/>
              <a:ea typeface="Calibri"/>
              <a:cs typeface="Calibri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2FFCB7C3-F96A-76BB-BE74-1EE0176D21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55" b="10355"/>
          <a:stretch/>
        </p:blipFill>
        <p:spPr>
          <a:xfrm>
            <a:off x="932477" y="2360962"/>
            <a:ext cx="1066100" cy="1000274"/>
          </a:xfrm>
          <a:prstGeom prst="ellipse">
            <a:avLst/>
          </a:prstGeom>
          <a:ln w="63500" cap="rnd">
            <a:noFill/>
          </a:ln>
          <a:effectLst/>
        </p:spPr>
      </p:pic>
      <p:sp>
        <p:nvSpPr>
          <p:cNvPr id="12" name="CaixaDeTexto 13">
            <a:extLst>
              <a:ext uri="{FF2B5EF4-FFF2-40B4-BE49-F238E27FC236}">
                <a16:creationId xmlns:a16="http://schemas.microsoft.com/office/drawing/2014/main" id="{65AAA23E-4991-AEC2-6987-1EFA0DA678E0}"/>
              </a:ext>
            </a:extLst>
          </p:cNvPr>
          <p:cNvSpPr txBox="1"/>
          <p:nvPr/>
        </p:nvSpPr>
        <p:spPr>
          <a:xfrm>
            <a:off x="2017262" y="3462173"/>
            <a:ext cx="3592040" cy="81560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pt-BR"/>
            </a:defPPr>
            <a:lvl1pPr marL="0" algn="ctr" defTabSz="914400" rtl="0" eaLnBrk="1" fontAlgn="ctr" latinLnBrk="0" hangingPunct="1">
              <a:lnSpc>
                <a:spcPct val="150000"/>
              </a:lnSpc>
              <a:defRPr sz="1000" b="1" i="0" u="none" strike="noStrike" kern="120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1300" dirty="0">
                <a:latin typeface="Calibri"/>
                <a:ea typeface="Calibri"/>
                <a:cs typeface="Calibri"/>
              </a:rPr>
              <a:t>Beatriz Lemos Clemente| 28  - 3/PROM</a:t>
            </a:r>
          </a:p>
          <a:p>
            <a:pPr algn="l">
              <a:lnSpc>
                <a:spcPct val="100000"/>
              </a:lnSpc>
            </a:pPr>
            <a:r>
              <a:rPr lang="en-US" sz="1300" dirty="0">
                <a:latin typeface="Calibri"/>
                <a:ea typeface="Calibri"/>
                <a:cs typeface="Calibri"/>
              </a:rPr>
              <a:t>Eng. </a:t>
            </a:r>
            <a:r>
              <a:rPr lang="en-US" sz="1300" dirty="0" err="1">
                <a:latin typeface="Calibri"/>
                <a:ea typeface="Calibri"/>
                <a:cs typeface="Calibri"/>
              </a:rPr>
              <a:t>Metalúrgica</a:t>
            </a:r>
            <a:r>
              <a:rPr lang="en-US" sz="1300" dirty="0">
                <a:latin typeface="Calibri"/>
                <a:ea typeface="Calibri"/>
                <a:cs typeface="Calibri"/>
              </a:rPr>
              <a:t> - UFF</a:t>
            </a:r>
            <a:endParaRPr lang="pt-BR" sz="1500" dirty="0">
              <a:latin typeface="Calibri"/>
              <a:ea typeface="Calibri"/>
              <a:cs typeface="Calibri"/>
            </a:endParaRPr>
          </a:p>
          <a:p>
            <a:pPr algn="l">
              <a:lnSpc>
                <a:spcPct val="100000"/>
              </a:lnSpc>
            </a:pPr>
            <a:r>
              <a:rPr lang="pt-BR" sz="1100" dirty="0" err="1">
                <a:solidFill>
                  <a:schemeClr val="bg1"/>
                </a:solidFill>
                <a:highlight>
                  <a:srgbClr val="84BD00"/>
                </a:highlight>
                <a:latin typeface="Aptos Narrow"/>
                <a:ea typeface="Calibri"/>
                <a:cs typeface="Calibri"/>
              </a:rPr>
              <a:t>Engineering</a:t>
            </a:r>
            <a:r>
              <a:rPr lang="pt-BR" sz="1100" dirty="0">
                <a:solidFill>
                  <a:schemeClr val="bg1"/>
                </a:solidFill>
                <a:highlight>
                  <a:srgbClr val="84BD00"/>
                </a:highlight>
                <a:latin typeface="Aptos Narrow"/>
                <a:ea typeface="Calibri"/>
                <a:cs typeface="Calibri"/>
              </a:rPr>
              <a:t> Global Trainee – GT2</a:t>
            </a:r>
          </a:p>
          <a:p>
            <a:pPr algn="l">
              <a:lnSpc>
                <a:spcPct val="100000"/>
              </a:lnSpc>
            </a:pPr>
            <a:r>
              <a:rPr lang="en-US" b="0" dirty="0">
                <a:solidFill>
                  <a:srgbClr val="242424"/>
                </a:solidFill>
                <a:latin typeface="Aptos Narrow"/>
                <a:ea typeface="Calibri"/>
                <a:cs typeface="Calibri"/>
              </a:rPr>
              <a:t>Hot &amp; Cold Rolling (P) - USI</a:t>
            </a:r>
            <a:endParaRPr lang="pt-BR" b="0" dirty="0">
              <a:solidFill>
                <a:srgbClr val="242424"/>
              </a:solidFill>
              <a:latin typeface="Aptos Narrow"/>
              <a:ea typeface="Calibri"/>
              <a:cs typeface="Calibri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73DC50C9-C965-AA58-D83B-203450346C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02" b="12302"/>
          <a:stretch/>
        </p:blipFill>
        <p:spPr>
          <a:xfrm>
            <a:off x="932475" y="3462173"/>
            <a:ext cx="1066100" cy="1000274"/>
          </a:xfrm>
          <a:prstGeom prst="ellipse">
            <a:avLst/>
          </a:prstGeom>
          <a:ln w="63500" cap="rnd">
            <a:noFill/>
          </a:ln>
          <a:effectLst/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E4B1022F-1829-11DC-FF39-BDF823DC3D2B}"/>
              </a:ext>
            </a:extLst>
          </p:cNvPr>
          <p:cNvSpPr txBox="1"/>
          <p:nvPr/>
        </p:nvSpPr>
        <p:spPr>
          <a:xfrm>
            <a:off x="2017261" y="4612559"/>
            <a:ext cx="3592040" cy="81560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pt-BR"/>
            </a:defPPr>
            <a:lvl1pPr marL="0" algn="ctr" defTabSz="914400" rtl="0" eaLnBrk="1" fontAlgn="ctr" latinLnBrk="0" hangingPunct="1">
              <a:lnSpc>
                <a:spcPct val="150000"/>
              </a:lnSpc>
              <a:defRPr sz="1000" b="1" i="0" u="none" strike="noStrike" kern="120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1300" dirty="0">
                <a:latin typeface="Calibri"/>
                <a:ea typeface="Calibri"/>
                <a:cs typeface="Calibri"/>
              </a:rPr>
              <a:t>Carlos Javier Gutierrez Sanchez| 27  - 4/AP</a:t>
            </a:r>
          </a:p>
          <a:p>
            <a:pPr algn="l">
              <a:lnSpc>
                <a:spcPct val="100000"/>
              </a:lnSpc>
            </a:pPr>
            <a:r>
              <a:rPr lang="en-US" sz="1300" dirty="0">
                <a:latin typeface="Calibri"/>
                <a:ea typeface="Calibri"/>
                <a:cs typeface="Calibri"/>
              </a:rPr>
              <a:t>Eng. </a:t>
            </a:r>
            <a:r>
              <a:rPr lang="en-US" sz="1300" dirty="0" err="1">
                <a:latin typeface="Calibri"/>
                <a:ea typeface="Calibri"/>
                <a:cs typeface="Calibri"/>
              </a:rPr>
              <a:t>Metalúrgica</a:t>
            </a:r>
            <a:r>
              <a:rPr lang="en-US" sz="1300" dirty="0">
                <a:latin typeface="Calibri"/>
                <a:ea typeface="Calibri"/>
                <a:cs typeface="Calibri"/>
              </a:rPr>
              <a:t> - UENF</a:t>
            </a:r>
            <a:endParaRPr lang="pt-BR" sz="1500" dirty="0">
              <a:latin typeface="Calibri"/>
              <a:ea typeface="Calibri"/>
              <a:cs typeface="Calibri"/>
            </a:endParaRPr>
          </a:p>
          <a:p>
            <a:pPr algn="l">
              <a:lnSpc>
                <a:spcPct val="100000"/>
              </a:lnSpc>
            </a:pPr>
            <a:r>
              <a:rPr lang="pt-BR" sz="1100" dirty="0">
                <a:solidFill>
                  <a:schemeClr val="bg1"/>
                </a:solidFill>
                <a:highlight>
                  <a:srgbClr val="84BD00"/>
                </a:highlight>
                <a:latin typeface="Aptos Narrow"/>
                <a:ea typeface="Calibri"/>
                <a:cs typeface="Calibri"/>
              </a:rPr>
              <a:t>Global Trainee – GT1</a:t>
            </a:r>
          </a:p>
          <a:p>
            <a:pPr algn="l">
              <a:lnSpc>
                <a:spcPct val="100000"/>
              </a:lnSpc>
            </a:pPr>
            <a:r>
              <a:rPr lang="en-US" b="0" dirty="0">
                <a:solidFill>
                  <a:srgbClr val="242424"/>
                </a:solidFill>
                <a:latin typeface="Aptos Narrow"/>
                <a:ea typeface="Calibri"/>
                <a:cs typeface="Calibri"/>
              </a:rPr>
              <a:t>Hot &amp; Cold Rolling (P) - USI</a:t>
            </a:r>
            <a:endParaRPr lang="pt-BR" sz="900" b="0" dirty="0">
              <a:solidFill>
                <a:srgbClr val="242424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29DDBB36-A479-0D75-F4EE-A18A0BF0D8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93" b="15793"/>
          <a:stretch/>
        </p:blipFill>
        <p:spPr>
          <a:xfrm>
            <a:off x="932474" y="4612559"/>
            <a:ext cx="1066100" cy="1000274"/>
          </a:xfrm>
          <a:prstGeom prst="ellipse">
            <a:avLst/>
          </a:prstGeom>
          <a:ln w="63500" cap="rnd">
            <a:noFill/>
          </a:ln>
          <a:effectLst/>
        </p:spPr>
      </p:pic>
      <p:sp>
        <p:nvSpPr>
          <p:cNvPr id="24" name="CaixaDeTexto 13">
            <a:extLst>
              <a:ext uri="{FF2B5EF4-FFF2-40B4-BE49-F238E27FC236}">
                <a16:creationId xmlns:a16="http://schemas.microsoft.com/office/drawing/2014/main" id="{193F8BE7-E21B-9B96-9211-8073ACB14EC1}"/>
              </a:ext>
            </a:extLst>
          </p:cNvPr>
          <p:cNvSpPr txBox="1"/>
          <p:nvPr/>
        </p:nvSpPr>
        <p:spPr>
          <a:xfrm>
            <a:off x="7415189" y="1259745"/>
            <a:ext cx="4318055" cy="81560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pt-BR"/>
            </a:defPPr>
            <a:lvl1pPr marL="0" algn="ctr" defTabSz="914400" rtl="0" eaLnBrk="1" fontAlgn="ctr" latinLnBrk="0" hangingPunct="1">
              <a:lnSpc>
                <a:spcPct val="150000"/>
              </a:lnSpc>
              <a:defRPr sz="1000" b="1" i="0" u="none" strike="noStrike" kern="120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1300" dirty="0">
                <a:latin typeface="Calibri"/>
                <a:ea typeface="Calibri"/>
                <a:cs typeface="Calibri"/>
              </a:rPr>
              <a:t>Fernando Augusto Rodrigues Machado | 26  - Não avaliado</a:t>
            </a:r>
          </a:p>
          <a:p>
            <a:pPr algn="l">
              <a:lnSpc>
                <a:spcPct val="100000"/>
              </a:lnSpc>
            </a:pPr>
            <a:r>
              <a:rPr lang="en-US" sz="1300" dirty="0">
                <a:latin typeface="Calibri"/>
                <a:ea typeface="Calibri"/>
                <a:cs typeface="Calibri"/>
              </a:rPr>
              <a:t>Eng. </a:t>
            </a:r>
            <a:r>
              <a:rPr lang="en-US" sz="1300" dirty="0" err="1">
                <a:latin typeface="Calibri"/>
                <a:ea typeface="Calibri"/>
                <a:cs typeface="Calibri"/>
              </a:rPr>
              <a:t>Metalúrgica</a:t>
            </a:r>
            <a:r>
              <a:rPr lang="en-US" sz="1300" dirty="0">
                <a:latin typeface="Calibri"/>
                <a:ea typeface="Calibri"/>
                <a:cs typeface="Calibri"/>
              </a:rPr>
              <a:t> - UFOP</a:t>
            </a:r>
            <a:endParaRPr lang="pt-BR" sz="1500" dirty="0">
              <a:latin typeface="Calibri"/>
              <a:ea typeface="Calibri"/>
              <a:cs typeface="Calibri"/>
            </a:endParaRPr>
          </a:p>
          <a:p>
            <a:pPr algn="l">
              <a:lnSpc>
                <a:spcPct val="100000"/>
              </a:lnSpc>
            </a:pPr>
            <a:r>
              <a:rPr lang="pt-BR" sz="1100" dirty="0">
                <a:solidFill>
                  <a:schemeClr val="bg1"/>
                </a:solidFill>
                <a:highlight>
                  <a:srgbClr val="84BD00"/>
                </a:highlight>
                <a:latin typeface="Aptos Narrow"/>
                <a:ea typeface="Calibri"/>
                <a:cs typeface="Calibri"/>
              </a:rPr>
              <a:t>Global Trainee – GT0</a:t>
            </a:r>
          </a:p>
          <a:p>
            <a:pPr algn="l">
              <a:lnSpc>
                <a:spcPct val="100000"/>
              </a:lnSpc>
            </a:pPr>
            <a:r>
              <a:rPr lang="en-US" b="0" dirty="0">
                <a:solidFill>
                  <a:srgbClr val="242424"/>
                </a:solidFill>
                <a:latin typeface="Aptos Narrow"/>
                <a:ea typeface="Calibri"/>
                <a:cs typeface="Calibri"/>
              </a:rPr>
              <a:t>Hot &amp; Cold Rolling (P) - USI</a:t>
            </a:r>
            <a:endParaRPr lang="pt-BR" b="0" dirty="0">
              <a:solidFill>
                <a:srgbClr val="242424"/>
              </a:solidFill>
              <a:latin typeface="Aptos Narrow"/>
              <a:ea typeface="Calibri"/>
              <a:cs typeface="Calibri"/>
            </a:endParaRPr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4E4AD0A8-52F0-F995-5EFA-849EA22404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01" b="4601"/>
          <a:stretch/>
        </p:blipFill>
        <p:spPr>
          <a:xfrm>
            <a:off x="6330402" y="1259745"/>
            <a:ext cx="1066100" cy="1000274"/>
          </a:xfrm>
          <a:prstGeom prst="ellipse">
            <a:avLst/>
          </a:prstGeom>
          <a:ln w="63500" cap="rnd">
            <a:noFill/>
          </a:ln>
          <a:effectLst/>
        </p:spPr>
      </p:pic>
      <p:sp>
        <p:nvSpPr>
          <p:cNvPr id="26" name="CaixaDeTexto 13">
            <a:extLst>
              <a:ext uri="{FF2B5EF4-FFF2-40B4-BE49-F238E27FC236}">
                <a16:creationId xmlns:a16="http://schemas.microsoft.com/office/drawing/2014/main" id="{6A3EACB0-D20A-D550-038B-F93F254671AF}"/>
              </a:ext>
            </a:extLst>
          </p:cNvPr>
          <p:cNvSpPr txBox="1"/>
          <p:nvPr/>
        </p:nvSpPr>
        <p:spPr>
          <a:xfrm>
            <a:off x="7420106" y="2365877"/>
            <a:ext cx="4447429" cy="81560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pt-BR"/>
            </a:defPPr>
            <a:lvl1pPr marL="0" algn="ctr" defTabSz="914400" rtl="0" eaLnBrk="1" fontAlgn="ctr" latinLnBrk="0" hangingPunct="1">
              <a:lnSpc>
                <a:spcPct val="150000"/>
              </a:lnSpc>
              <a:defRPr sz="1000" b="1" i="0" u="none" strike="noStrike" kern="120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1300" dirty="0">
                <a:latin typeface="Calibri"/>
                <a:ea typeface="Calibri"/>
                <a:cs typeface="Calibri"/>
              </a:rPr>
              <a:t>Geovana Grigio Victoria | 26  - 4/PROM</a:t>
            </a:r>
          </a:p>
          <a:p>
            <a:pPr algn="l">
              <a:lnSpc>
                <a:spcPct val="100000"/>
              </a:lnSpc>
            </a:pPr>
            <a:r>
              <a:rPr lang="en-US" sz="1300" dirty="0">
                <a:latin typeface="Calibri"/>
                <a:ea typeface="Calibri"/>
                <a:cs typeface="Calibri"/>
              </a:rPr>
              <a:t>Eng. </a:t>
            </a:r>
            <a:r>
              <a:rPr lang="en-US" sz="1300" dirty="0" err="1">
                <a:latin typeface="Calibri"/>
                <a:ea typeface="Calibri"/>
                <a:cs typeface="Calibri"/>
              </a:rPr>
              <a:t>Elétrica</a:t>
            </a:r>
            <a:r>
              <a:rPr lang="en-US" sz="1300" dirty="0">
                <a:latin typeface="Calibri"/>
                <a:ea typeface="Calibri"/>
                <a:cs typeface="Calibri"/>
              </a:rPr>
              <a:t> - UNESPAR</a:t>
            </a:r>
            <a:endParaRPr lang="pt-BR" sz="1500" dirty="0">
              <a:latin typeface="Calibri"/>
              <a:ea typeface="Calibri"/>
              <a:cs typeface="Calibri"/>
            </a:endParaRPr>
          </a:p>
          <a:p>
            <a:pPr algn="l">
              <a:lnSpc>
                <a:spcPct val="100000"/>
              </a:lnSpc>
            </a:pPr>
            <a:r>
              <a:rPr lang="pt-BR" sz="1100" dirty="0">
                <a:solidFill>
                  <a:schemeClr val="bg1"/>
                </a:solidFill>
                <a:highlight>
                  <a:srgbClr val="84BD00"/>
                </a:highlight>
                <a:latin typeface="Aptos Narrow"/>
                <a:ea typeface="Calibri"/>
                <a:cs typeface="Calibri"/>
              </a:rPr>
              <a:t>Global Trainee – GT1</a:t>
            </a:r>
          </a:p>
          <a:p>
            <a:pPr algn="l">
              <a:lnSpc>
                <a:spcPct val="100000"/>
              </a:lnSpc>
            </a:pPr>
            <a:r>
              <a:rPr lang="pt-BR" b="0" dirty="0">
                <a:solidFill>
                  <a:srgbClr val="242424"/>
                </a:solidFill>
                <a:latin typeface="Aptos Narrow"/>
                <a:ea typeface="Calibri"/>
                <a:cs typeface="Calibri"/>
              </a:rPr>
              <a:t>Hot Rolling - IPA</a:t>
            </a:r>
            <a:endParaRPr lang="pt-BR" sz="900" b="0" dirty="0">
              <a:solidFill>
                <a:srgbClr val="242424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A5311A91-B409-ECA1-4845-A380AC69004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70" b="14370"/>
          <a:stretch/>
        </p:blipFill>
        <p:spPr>
          <a:xfrm>
            <a:off x="6335319" y="2365877"/>
            <a:ext cx="1066100" cy="1000274"/>
          </a:xfrm>
          <a:prstGeom prst="ellipse">
            <a:avLst/>
          </a:prstGeom>
          <a:ln w="63500" cap="rnd">
            <a:noFill/>
          </a:ln>
          <a:effectLst/>
        </p:spPr>
      </p:pic>
      <p:sp>
        <p:nvSpPr>
          <p:cNvPr id="28" name="CaixaDeTexto 13">
            <a:extLst>
              <a:ext uri="{FF2B5EF4-FFF2-40B4-BE49-F238E27FC236}">
                <a16:creationId xmlns:a16="http://schemas.microsoft.com/office/drawing/2014/main" id="{664B4FDF-2AC4-68BD-48E2-08926A7B309E}"/>
              </a:ext>
            </a:extLst>
          </p:cNvPr>
          <p:cNvSpPr txBox="1"/>
          <p:nvPr/>
        </p:nvSpPr>
        <p:spPr>
          <a:xfrm>
            <a:off x="7420104" y="3467088"/>
            <a:ext cx="4447431" cy="81560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pt-BR"/>
            </a:defPPr>
            <a:lvl1pPr marL="0" algn="ctr" defTabSz="914400" rtl="0" eaLnBrk="1" fontAlgn="ctr" latinLnBrk="0" hangingPunct="1">
              <a:lnSpc>
                <a:spcPct val="150000"/>
              </a:lnSpc>
              <a:defRPr sz="1000" b="1" i="0" u="none" strike="noStrike" kern="120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1300" dirty="0">
                <a:latin typeface="Calibri"/>
                <a:ea typeface="Calibri"/>
                <a:cs typeface="Calibri"/>
              </a:rPr>
              <a:t>Igor Fernando Martins de Sousa | 27  - 3/PROM</a:t>
            </a:r>
          </a:p>
          <a:p>
            <a:pPr algn="l">
              <a:lnSpc>
                <a:spcPct val="100000"/>
              </a:lnSpc>
            </a:pPr>
            <a:r>
              <a:rPr lang="en-US" sz="1300" dirty="0">
                <a:latin typeface="Calibri"/>
                <a:ea typeface="Calibri"/>
                <a:cs typeface="Calibri"/>
              </a:rPr>
              <a:t>Eng. </a:t>
            </a:r>
            <a:r>
              <a:rPr lang="en-US" sz="1300" dirty="0" err="1">
                <a:latin typeface="Calibri"/>
                <a:ea typeface="Calibri"/>
                <a:cs typeface="Calibri"/>
              </a:rPr>
              <a:t>Metalúrgica</a:t>
            </a:r>
            <a:r>
              <a:rPr lang="en-US" sz="1300" dirty="0">
                <a:latin typeface="Calibri"/>
                <a:ea typeface="Calibri"/>
                <a:cs typeface="Calibri"/>
              </a:rPr>
              <a:t> - UEMG</a:t>
            </a:r>
            <a:endParaRPr lang="pt-BR" sz="1500" dirty="0">
              <a:latin typeface="Calibri"/>
              <a:ea typeface="Calibri"/>
              <a:cs typeface="Calibri"/>
            </a:endParaRPr>
          </a:p>
          <a:p>
            <a:pPr algn="l">
              <a:lnSpc>
                <a:spcPct val="100000"/>
              </a:lnSpc>
            </a:pPr>
            <a:r>
              <a:rPr lang="pt-BR" sz="1100" dirty="0">
                <a:solidFill>
                  <a:schemeClr val="bg1"/>
                </a:solidFill>
                <a:highlight>
                  <a:srgbClr val="84BD00"/>
                </a:highlight>
                <a:latin typeface="Aptos Narrow"/>
                <a:ea typeface="Calibri"/>
                <a:cs typeface="Calibri"/>
              </a:rPr>
              <a:t>Global Trainee – GT1</a:t>
            </a:r>
          </a:p>
          <a:p>
            <a:pPr algn="l">
              <a:lnSpc>
                <a:spcPct val="100000"/>
              </a:lnSpc>
            </a:pPr>
            <a:r>
              <a:rPr lang="en-US" b="0" dirty="0">
                <a:solidFill>
                  <a:srgbClr val="242424"/>
                </a:solidFill>
                <a:latin typeface="Aptos Narrow"/>
                <a:ea typeface="Calibri"/>
                <a:cs typeface="Calibri"/>
              </a:rPr>
              <a:t>Hot &amp; Cold Rolling (P) - USI</a:t>
            </a:r>
            <a:endParaRPr lang="pt-BR" sz="900" b="0" dirty="0">
              <a:solidFill>
                <a:srgbClr val="242424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A59708AD-926D-A1DD-2A4D-FA4FD90DF59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41" b="10541"/>
          <a:stretch/>
        </p:blipFill>
        <p:spPr>
          <a:xfrm>
            <a:off x="6335317" y="3467088"/>
            <a:ext cx="1066100" cy="1000274"/>
          </a:xfrm>
          <a:prstGeom prst="ellipse">
            <a:avLst/>
          </a:prstGeom>
          <a:ln w="63500" cap="rnd">
            <a:noFill/>
          </a:ln>
          <a:effectLst/>
        </p:spPr>
      </p:pic>
      <p:sp>
        <p:nvSpPr>
          <p:cNvPr id="30" name="CaixaDeTexto 29">
            <a:extLst>
              <a:ext uri="{FF2B5EF4-FFF2-40B4-BE49-F238E27FC236}">
                <a16:creationId xmlns:a16="http://schemas.microsoft.com/office/drawing/2014/main" id="{B183564C-E842-A343-50B8-51D7FC3B756D}"/>
              </a:ext>
            </a:extLst>
          </p:cNvPr>
          <p:cNvSpPr txBox="1"/>
          <p:nvPr/>
        </p:nvSpPr>
        <p:spPr>
          <a:xfrm>
            <a:off x="7420103" y="4617474"/>
            <a:ext cx="4313141" cy="81560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pt-BR"/>
            </a:defPPr>
            <a:lvl1pPr marL="0" algn="ctr" defTabSz="914400" rtl="0" eaLnBrk="1" fontAlgn="ctr" latinLnBrk="0" hangingPunct="1">
              <a:lnSpc>
                <a:spcPct val="150000"/>
              </a:lnSpc>
              <a:defRPr sz="1000" b="1" i="0" u="none" strike="noStrike" kern="120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1300" dirty="0">
                <a:latin typeface="Calibri"/>
                <a:ea typeface="Calibri"/>
                <a:cs typeface="Calibri"/>
              </a:rPr>
              <a:t>Isabela Leonor Noronha da Silva | 25  - 4/PROM</a:t>
            </a:r>
          </a:p>
          <a:p>
            <a:pPr algn="l">
              <a:lnSpc>
                <a:spcPct val="100000"/>
              </a:lnSpc>
            </a:pPr>
            <a:r>
              <a:rPr lang="en-US" sz="1300" dirty="0">
                <a:latin typeface="Calibri"/>
                <a:ea typeface="Calibri"/>
                <a:cs typeface="Calibri"/>
              </a:rPr>
              <a:t>Eng. </a:t>
            </a:r>
            <a:r>
              <a:rPr lang="en-US" sz="1300" dirty="0" err="1">
                <a:latin typeface="Calibri"/>
                <a:ea typeface="Calibri"/>
                <a:cs typeface="Calibri"/>
              </a:rPr>
              <a:t>Materiais</a:t>
            </a:r>
            <a:r>
              <a:rPr lang="en-US" sz="1300" dirty="0">
                <a:latin typeface="Calibri"/>
                <a:ea typeface="Calibri"/>
                <a:cs typeface="Calibri"/>
              </a:rPr>
              <a:t> - UNIFEI</a:t>
            </a:r>
            <a:endParaRPr lang="pt-BR" sz="1500" dirty="0">
              <a:latin typeface="Calibri"/>
              <a:ea typeface="Calibri"/>
              <a:cs typeface="Calibri"/>
            </a:endParaRPr>
          </a:p>
          <a:p>
            <a:pPr algn="l">
              <a:lnSpc>
                <a:spcPct val="100000"/>
              </a:lnSpc>
            </a:pPr>
            <a:r>
              <a:rPr lang="pt-BR" sz="1100" dirty="0">
                <a:solidFill>
                  <a:schemeClr val="bg1"/>
                </a:solidFill>
                <a:highlight>
                  <a:srgbClr val="84BD00"/>
                </a:highlight>
                <a:latin typeface="Aptos Narrow"/>
                <a:ea typeface="Calibri"/>
                <a:cs typeface="Calibri"/>
              </a:rPr>
              <a:t>Global Trainee – GT1</a:t>
            </a:r>
          </a:p>
          <a:p>
            <a:pPr algn="l">
              <a:lnSpc>
                <a:spcPct val="100000"/>
              </a:lnSpc>
            </a:pPr>
            <a:r>
              <a:rPr lang="en-US" b="0" dirty="0">
                <a:solidFill>
                  <a:srgbClr val="242424"/>
                </a:solidFill>
                <a:latin typeface="Aptos Narrow"/>
                <a:ea typeface="Calibri"/>
                <a:cs typeface="Calibri"/>
              </a:rPr>
              <a:t>Hot &amp; Cold Rolling (P) - USI</a:t>
            </a:r>
            <a:endParaRPr lang="pt-BR" sz="900" b="0" dirty="0">
              <a:solidFill>
                <a:srgbClr val="242424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31" name="Imagem 30">
            <a:extLst>
              <a:ext uri="{FF2B5EF4-FFF2-40B4-BE49-F238E27FC236}">
                <a16:creationId xmlns:a16="http://schemas.microsoft.com/office/drawing/2014/main" id="{BFF8948E-6730-B9F3-206C-D3BBA632E45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17" b="11617"/>
          <a:stretch/>
        </p:blipFill>
        <p:spPr>
          <a:xfrm>
            <a:off x="6335316" y="4617474"/>
            <a:ext cx="1066100" cy="1000274"/>
          </a:xfrm>
          <a:prstGeom prst="ellipse">
            <a:avLst/>
          </a:prstGeom>
          <a:ln w="63500" cap="rnd">
            <a:noFill/>
          </a:ln>
          <a:effectLst/>
        </p:spPr>
      </p:pic>
      <p:sp>
        <p:nvSpPr>
          <p:cNvPr id="32" name="Forma Livre: Forma 31">
            <a:extLst>
              <a:ext uri="{FF2B5EF4-FFF2-40B4-BE49-F238E27FC236}">
                <a16:creationId xmlns:a16="http://schemas.microsoft.com/office/drawing/2014/main" id="{205E5113-A176-FE4B-7B54-C44E2A48D4D2}"/>
              </a:ext>
            </a:extLst>
          </p:cNvPr>
          <p:cNvSpPr/>
          <p:nvPr/>
        </p:nvSpPr>
        <p:spPr>
          <a:xfrm>
            <a:off x="-78659" y="6308617"/>
            <a:ext cx="12388645" cy="562701"/>
          </a:xfrm>
          <a:custGeom>
            <a:avLst/>
            <a:gdLst>
              <a:gd name="connsiteX0" fmla="*/ 0 w 24442422"/>
              <a:gd name="connsiteY0" fmla="*/ 0 h 942051"/>
              <a:gd name="connsiteX1" fmla="*/ 24442422 w 24442422"/>
              <a:gd name="connsiteY1" fmla="*/ 0 h 942051"/>
              <a:gd name="connsiteX2" fmla="*/ 24442422 w 24442422"/>
              <a:gd name="connsiteY2" fmla="*/ 942051 h 942051"/>
              <a:gd name="connsiteX3" fmla="*/ 0 w 24442422"/>
              <a:gd name="connsiteY3" fmla="*/ 942051 h 942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42422" h="942051">
                <a:moveTo>
                  <a:pt x="0" y="0"/>
                </a:moveTo>
                <a:lnTo>
                  <a:pt x="24442422" y="0"/>
                </a:lnTo>
                <a:lnTo>
                  <a:pt x="24442422" y="942051"/>
                </a:lnTo>
                <a:lnTo>
                  <a:pt x="0" y="942051"/>
                </a:lnTo>
                <a:close/>
              </a:path>
            </a:pathLst>
          </a:custGeom>
          <a:solidFill>
            <a:srgbClr val="257226"/>
          </a:solidFill>
          <a:ln w="0" cap="flat">
            <a:noFill/>
            <a:prstDash val="solid"/>
            <a:miter/>
          </a:ln>
        </p:spPr>
        <p:txBody>
          <a:bodyPr rtlCol="0" anchor="ctr"/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indent="11430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indent="22860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indent="34290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indent="45720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indent="57150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indent="68580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indent="80010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indent="91440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 lang="pt-BR" sz="1125"/>
          </a:p>
        </p:txBody>
      </p:sp>
      <p:sp>
        <p:nvSpPr>
          <p:cNvPr id="33" name="Título 1">
            <a:extLst>
              <a:ext uri="{FF2B5EF4-FFF2-40B4-BE49-F238E27FC236}">
                <a16:creationId xmlns:a16="http://schemas.microsoft.com/office/drawing/2014/main" id="{04DC5802-BE06-8A55-70E2-DCDD59DB1979}"/>
              </a:ext>
            </a:extLst>
          </p:cNvPr>
          <p:cNvSpPr txBox="1">
            <a:spLocks/>
          </p:cNvSpPr>
          <p:nvPr/>
        </p:nvSpPr>
        <p:spPr>
          <a:xfrm>
            <a:off x="377056" y="267106"/>
            <a:ext cx="10474325" cy="430887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i="0" kern="1200" spc="0">
                <a:solidFill>
                  <a:srgbClr val="257226"/>
                </a:solidFill>
                <a:latin typeface="+mn-lt"/>
                <a:ea typeface="+mj-ea"/>
                <a:cs typeface="Arial Black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dirty="0">
                <a:latin typeface="Verdana"/>
                <a:ea typeface="Verdana"/>
              </a:rPr>
              <a:t>TITULO</a:t>
            </a:r>
          </a:p>
        </p:txBody>
      </p:sp>
    </p:spTree>
    <p:extLst>
      <p:ext uri="{BB962C8B-B14F-4D97-AF65-F5344CB8AC3E}">
        <p14:creationId xmlns:p14="http://schemas.microsoft.com/office/powerpoint/2010/main" val="19456162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63ddd65-1730-4534-8c60-5237bc7237f7}" enabled="1" method="Standard" siteId="{f42fc9cf-67de-42f2-a997-d920d85e69a6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798</Words>
  <Application>Microsoft Office PowerPoint</Application>
  <PresentationFormat>Widescreen</PresentationFormat>
  <Paragraphs>132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Igor Gabriel De Souza Barbosa</dc:creator>
  <cp:lastModifiedBy>Igor Gabriel De Souza Barbosa</cp:lastModifiedBy>
  <cp:revision>128</cp:revision>
  <dcterms:created xsi:type="dcterms:W3CDTF">2025-07-23T11:13:27Z</dcterms:created>
  <dcterms:modified xsi:type="dcterms:W3CDTF">2026-04-13T19:11:30Z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Classificação da informação: Confidencial Grupo de Acesso: Destinatários deste e-mail</vt:lpwstr>
  </property>
</Properties>
</file>